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3afdab7af4b54" /><Relationship Type="http://schemas.openxmlformats.org/officeDocument/2006/relationships/extended-properties" Target="/docProps/app.xml" Id="R1d9379116f2e4d53" /><Relationship Type="http://schemas.openxmlformats.org/officeDocument/2006/relationships/officeDocument" Target="/ppt/presentation.xml" Id="Rbf1489174f9a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019c14aaaf4ba4"/>
  </p:sldMasterIdLst>
  <p:notesMasterIdLst>
    <p:notesMasterId xmlns:r="http://schemas.openxmlformats.org/officeDocument/2006/relationships" r:id="R8b8ca971f60f4e4b"/>
  </p:notesMasterIdLst>
  <p:sldIdLst>
    <p:sldId xmlns:r="http://schemas.openxmlformats.org/officeDocument/2006/relationships" id="256" r:id="R5e25cd9c2f874123"/>
    <p:sldId xmlns:r="http://schemas.openxmlformats.org/officeDocument/2006/relationships" id="257" r:id="R17571b8c0b92447a"/>
    <p:sldId xmlns:r="http://schemas.openxmlformats.org/officeDocument/2006/relationships" id="258" r:id="Re4ee5a575e384cf3"/>
    <p:sldId xmlns:r="http://schemas.openxmlformats.org/officeDocument/2006/relationships" id="259" r:id="R5007a7f522994df9"/>
    <p:sldId xmlns:r="http://schemas.openxmlformats.org/officeDocument/2006/relationships" id="260" r:id="R86a72116ba0b41d0"/>
    <p:sldId xmlns:r="http://schemas.openxmlformats.org/officeDocument/2006/relationships" id="261" r:id="R14df77d551c44a7b"/>
    <p:sldId xmlns:r="http://schemas.openxmlformats.org/officeDocument/2006/relationships" id="262" r:id="R777f2773ea214039"/>
    <p:sldId xmlns:r="http://schemas.openxmlformats.org/officeDocument/2006/relationships" id="263" r:id="R4f6f6e411a4d4662"/>
    <p:sldId xmlns:r="http://schemas.openxmlformats.org/officeDocument/2006/relationships" id="264" r:id="Rc33832fe654e490e"/>
    <p:sldId xmlns:r="http://schemas.openxmlformats.org/officeDocument/2006/relationships" id="265" r:id="R82bacf6236f24f83"/>
    <p:sldId xmlns:r="http://schemas.openxmlformats.org/officeDocument/2006/relationships" id="266" r:id="R4651dcaec590464d"/>
    <p:sldId xmlns:r="http://schemas.openxmlformats.org/officeDocument/2006/relationships" id="267" r:id="R18dd04b21a124df4"/>
    <p:sldId xmlns:r="http://schemas.openxmlformats.org/officeDocument/2006/relationships" id="268" r:id="Rd19ca9fbcd954326"/>
    <p:sldId xmlns:r="http://schemas.openxmlformats.org/officeDocument/2006/relationships" id="269" r:id="Ra5100d525b0e4d57"/>
    <p:sldId xmlns:r="http://schemas.openxmlformats.org/officeDocument/2006/relationships" id="270" r:id="Rac0f9472efb44675"/>
    <p:sldId xmlns:r="http://schemas.openxmlformats.org/officeDocument/2006/relationships" id="271" r:id="Ree38e01bedbb4838"/>
    <p:sldId xmlns:r="http://schemas.openxmlformats.org/officeDocument/2006/relationships" id="272" r:id="R96c8c1970f4b4327"/>
    <p:sldId xmlns:r="http://schemas.openxmlformats.org/officeDocument/2006/relationships" id="273" r:id="R53d63ae519014e32"/>
    <p:sldId xmlns:r="http://schemas.openxmlformats.org/officeDocument/2006/relationships" id="274" r:id="R1ec01c5142554e1d"/>
    <p:sldId xmlns:r="http://schemas.openxmlformats.org/officeDocument/2006/relationships" id="275" r:id="R450af7b321e44a23"/>
    <p:sldId xmlns:r="http://schemas.openxmlformats.org/officeDocument/2006/relationships" id="276" r:id="Rd5108acf827c42b2"/>
    <p:sldId xmlns:r="http://schemas.openxmlformats.org/officeDocument/2006/relationships" id="277" r:id="Rc657cc8fc1b1490c"/>
    <p:sldId xmlns:r="http://schemas.openxmlformats.org/officeDocument/2006/relationships" id="278" r:id="Rad7cb75a36fb4719"/>
    <p:sldId xmlns:r="http://schemas.openxmlformats.org/officeDocument/2006/relationships" id="279" r:id="Rcf48d38b226a4d74"/>
    <p:sldId xmlns:r="http://schemas.openxmlformats.org/officeDocument/2006/relationships" id="280" r:id="R74f40f69fd354828"/>
    <p:sldId xmlns:r="http://schemas.openxmlformats.org/officeDocument/2006/relationships" id="281" r:id="Rc378ddf890b9478e"/>
    <p:sldId xmlns:r="http://schemas.openxmlformats.org/officeDocument/2006/relationships" id="282" r:id="R5f3f23c1e85543a6"/>
    <p:sldId xmlns:r="http://schemas.openxmlformats.org/officeDocument/2006/relationships" id="283" r:id="R92312201247b435c"/>
    <p:sldId xmlns:r="http://schemas.openxmlformats.org/officeDocument/2006/relationships" id="284" r:id="R9f1a2b9fe7684c55"/>
    <p:sldId xmlns:r="http://schemas.openxmlformats.org/officeDocument/2006/relationships" id="285" r:id="Rd137e88f4ee7453c"/>
    <p:sldId xmlns:r="http://schemas.openxmlformats.org/officeDocument/2006/relationships" id="286" r:id="Ra67cb3248a52436e"/>
    <p:sldId xmlns:r="http://schemas.openxmlformats.org/officeDocument/2006/relationships" id="287" r:id="Rc6b8f9b2b95f480d"/>
    <p:sldId xmlns:r="http://schemas.openxmlformats.org/officeDocument/2006/relationships" id="288" r:id="Rc7bbacd226d84094"/>
    <p:sldId xmlns:r="http://schemas.openxmlformats.org/officeDocument/2006/relationships" id="289" r:id="R6f6c9a4ba8264a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5ebe5df9b4055" /><Relationship Type="http://schemas.openxmlformats.org/officeDocument/2006/relationships/slideMaster" Target="/ppt/slideMasters/slideMaster1.xml" Id="Ra5019c14aaaf4ba4" /><Relationship Type="http://schemas.openxmlformats.org/officeDocument/2006/relationships/notesMaster" Target="/ppt/notesMasters/notesMaster1.xml" Id="R8b8ca971f60f4e4b" /><Relationship Type="http://schemas.openxmlformats.org/officeDocument/2006/relationships/presProps" Target="/ppt/presProps.xml" Id="R7528ec1be12d4180" /><Relationship Type="http://schemas.openxmlformats.org/officeDocument/2006/relationships/tableStyles" Target="/ppt/tableStyles.xml" Id="Re8f11248fc68419f" /><Relationship Type="http://schemas.openxmlformats.org/officeDocument/2006/relationships/slide" Target="/ppt/slides/slide1.xml" Id="R5e25cd9c2f874123" /><Relationship Type="http://schemas.openxmlformats.org/officeDocument/2006/relationships/slide" Target="/ppt/slides/slide2.xml" Id="R17571b8c0b92447a" /><Relationship Type="http://schemas.openxmlformats.org/officeDocument/2006/relationships/slide" Target="/ppt/slides/slide3.xml" Id="Re4ee5a575e384cf3" /><Relationship Type="http://schemas.openxmlformats.org/officeDocument/2006/relationships/slide" Target="/ppt/slides/slide4.xml" Id="R5007a7f522994df9" /><Relationship Type="http://schemas.openxmlformats.org/officeDocument/2006/relationships/slide" Target="/ppt/slides/slide5.xml" Id="R86a72116ba0b41d0" /><Relationship Type="http://schemas.openxmlformats.org/officeDocument/2006/relationships/slide" Target="/ppt/slides/slide6.xml" Id="R14df77d551c44a7b" /><Relationship Type="http://schemas.openxmlformats.org/officeDocument/2006/relationships/slide" Target="/ppt/slides/slide7.xml" Id="R777f2773ea214039" /><Relationship Type="http://schemas.openxmlformats.org/officeDocument/2006/relationships/slide" Target="/ppt/slides/slide8.xml" Id="R4f6f6e411a4d4662" /><Relationship Type="http://schemas.openxmlformats.org/officeDocument/2006/relationships/slide" Target="/ppt/slides/slide9.xml" Id="Rc33832fe654e490e" /><Relationship Type="http://schemas.openxmlformats.org/officeDocument/2006/relationships/slide" Target="/ppt/slides/slide10.xml" Id="R82bacf6236f24f83" /><Relationship Type="http://schemas.openxmlformats.org/officeDocument/2006/relationships/slide" Target="/ppt/slides/slide11.xml" Id="R4651dcaec590464d" /><Relationship Type="http://schemas.openxmlformats.org/officeDocument/2006/relationships/slide" Target="/ppt/slides/slide12.xml" Id="R18dd04b21a124df4" /><Relationship Type="http://schemas.openxmlformats.org/officeDocument/2006/relationships/slide" Target="/ppt/slides/slide13.xml" Id="Rd19ca9fbcd954326" /><Relationship Type="http://schemas.openxmlformats.org/officeDocument/2006/relationships/slide" Target="/ppt/slides/slide14.xml" Id="Ra5100d525b0e4d57" /><Relationship Type="http://schemas.openxmlformats.org/officeDocument/2006/relationships/slide" Target="/ppt/slides/slide15.xml" Id="Rac0f9472efb44675" /><Relationship Type="http://schemas.openxmlformats.org/officeDocument/2006/relationships/slide" Target="/ppt/slides/slide16.xml" Id="Ree38e01bedbb4838" /><Relationship Type="http://schemas.openxmlformats.org/officeDocument/2006/relationships/slide" Target="/ppt/slides/slide17.xml" Id="R96c8c1970f4b4327" /><Relationship Type="http://schemas.openxmlformats.org/officeDocument/2006/relationships/slide" Target="/ppt/slides/slide18.xml" Id="R53d63ae519014e32" /><Relationship Type="http://schemas.openxmlformats.org/officeDocument/2006/relationships/slide" Target="/ppt/slides/slide19.xml" Id="R1ec01c5142554e1d" /><Relationship Type="http://schemas.openxmlformats.org/officeDocument/2006/relationships/slide" Target="/ppt/slides/slide20.xml" Id="R450af7b321e44a23" /><Relationship Type="http://schemas.openxmlformats.org/officeDocument/2006/relationships/slide" Target="/ppt/slides/slide21.xml" Id="Rd5108acf827c42b2" /><Relationship Type="http://schemas.openxmlformats.org/officeDocument/2006/relationships/slide" Target="/ppt/slides/slide22.xml" Id="Rc657cc8fc1b1490c" /><Relationship Type="http://schemas.openxmlformats.org/officeDocument/2006/relationships/slide" Target="/ppt/slides/slide23.xml" Id="Rad7cb75a36fb4719" /><Relationship Type="http://schemas.openxmlformats.org/officeDocument/2006/relationships/slide" Target="/ppt/slides/slide24.xml" Id="Rcf48d38b226a4d74" /><Relationship Type="http://schemas.openxmlformats.org/officeDocument/2006/relationships/slide" Target="/ppt/slides/slide25.xml" Id="R74f40f69fd354828" /><Relationship Type="http://schemas.openxmlformats.org/officeDocument/2006/relationships/slide" Target="/ppt/slides/slide26.xml" Id="Rc378ddf890b9478e" /><Relationship Type="http://schemas.openxmlformats.org/officeDocument/2006/relationships/slide" Target="/ppt/slides/slide27.xml" Id="R5f3f23c1e85543a6" /><Relationship Type="http://schemas.openxmlformats.org/officeDocument/2006/relationships/slide" Target="/ppt/slides/slide28.xml" Id="R92312201247b435c" /><Relationship Type="http://schemas.openxmlformats.org/officeDocument/2006/relationships/slide" Target="/ppt/slides/slide29.xml" Id="R9f1a2b9fe7684c55" /><Relationship Type="http://schemas.openxmlformats.org/officeDocument/2006/relationships/slide" Target="/ppt/slides/slide30.xml" Id="Rd137e88f4ee7453c" /><Relationship Type="http://schemas.openxmlformats.org/officeDocument/2006/relationships/slide" Target="/ppt/slides/slide31.xml" Id="Ra67cb3248a52436e" /><Relationship Type="http://schemas.openxmlformats.org/officeDocument/2006/relationships/slide" Target="/ppt/slides/slide32.xml" Id="Rc6b8f9b2b95f480d" /><Relationship Type="http://schemas.openxmlformats.org/officeDocument/2006/relationships/slide" Target="/ppt/slides/slide33.xml" Id="Rc7bbacd226d84094" /><Relationship Type="http://schemas.openxmlformats.org/officeDocument/2006/relationships/slide" Target="/ppt/slides/slide34.xml" Id="R6f6c9a4ba8264a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44c46ec6c04b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2a19ffa4054489" /><Relationship Type="http://schemas.openxmlformats.org/officeDocument/2006/relationships/notesMaster" Target="/ppt/notesMasters/notesMaster1.xml" Id="R735df8fefa994b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14bf8b1b0a4dab" /><Relationship Type="http://schemas.openxmlformats.org/officeDocument/2006/relationships/notesMaster" Target="/ppt/notesMasters/notesMaster1.xml" Id="R29d7cd95f0d94b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5a3da2bd6c404e" /><Relationship Type="http://schemas.openxmlformats.org/officeDocument/2006/relationships/notesMaster" Target="/ppt/notesMasters/notesMaster1.xml" Id="Raa55df2997b7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475d05134c4360" /><Relationship Type="http://schemas.openxmlformats.org/officeDocument/2006/relationships/notesMaster" Target="/ppt/notesMasters/notesMaster1.xml" Id="R0741865999ce42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0d0f61d6584857" /><Relationship Type="http://schemas.openxmlformats.org/officeDocument/2006/relationships/notesMaster" Target="/ppt/notesMasters/notesMaster1.xml" Id="R6caa58e97ddf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9181c911b8452b" /><Relationship Type="http://schemas.openxmlformats.org/officeDocument/2006/relationships/notesMaster" Target="/ppt/notesMasters/notesMaster1.xml" Id="R45672468f790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f312fd4c8b4f6a" /><Relationship Type="http://schemas.openxmlformats.org/officeDocument/2006/relationships/notesMaster" Target="/ppt/notesMasters/notesMaster1.xml" Id="R830a24470651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f4397fed14dab" /><Relationship Type="http://schemas.openxmlformats.org/officeDocument/2006/relationships/notesMaster" Target="/ppt/notesMasters/notesMaster1.xml" Id="R5e396f99fc3a46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2971d6969d48d6" /><Relationship Type="http://schemas.openxmlformats.org/officeDocument/2006/relationships/notesMaster" Target="/ppt/notesMasters/notesMaster1.xml" Id="Ra713c1683c924a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63087cc5545d6" /><Relationship Type="http://schemas.openxmlformats.org/officeDocument/2006/relationships/notesMaster" Target="/ppt/notesMasters/notesMaster1.xml" Id="Rd0bf09926ea345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1b6eba30004590" /><Relationship Type="http://schemas.openxmlformats.org/officeDocument/2006/relationships/notesMaster" Target="/ppt/notesMasters/notesMaster1.xml" Id="R4508a232b52341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7ebb128c574f56" /><Relationship Type="http://schemas.openxmlformats.org/officeDocument/2006/relationships/notesMaster" Target="/ppt/notesMasters/notesMaster1.xml" Id="R64de5fe9c17a45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1ddf3b4bb04da4" /><Relationship Type="http://schemas.openxmlformats.org/officeDocument/2006/relationships/notesMaster" Target="/ppt/notesMasters/notesMaster1.xml" Id="R1016e36db84242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24c9e2ed4044d7" /><Relationship Type="http://schemas.openxmlformats.org/officeDocument/2006/relationships/notesMaster" Target="/ppt/notesMasters/notesMaster1.xml" Id="R7a0ac032382f49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5199ecccbe4ae6" /><Relationship Type="http://schemas.openxmlformats.org/officeDocument/2006/relationships/notesMaster" Target="/ppt/notesMasters/notesMaster1.xml" Id="R96d6d8fe88d441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93e11f60cb4d94" /><Relationship Type="http://schemas.openxmlformats.org/officeDocument/2006/relationships/notesMaster" Target="/ppt/notesMasters/notesMaster1.xml" Id="Rd32c2303633a4a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6d8047b4fd4bc4" /><Relationship Type="http://schemas.openxmlformats.org/officeDocument/2006/relationships/notesMaster" Target="/ppt/notesMasters/notesMaster1.xml" Id="R97c1b3af332344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cb8781afa64303" /><Relationship Type="http://schemas.openxmlformats.org/officeDocument/2006/relationships/notesMaster" Target="/ppt/notesMasters/notesMaster1.xml" Id="Rd1ae7bf6d39544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f17959bbca34be1" /><Relationship Type="http://schemas.openxmlformats.org/officeDocument/2006/relationships/notesMaster" Target="/ppt/notesMasters/notesMaster1.xml" Id="R00747559b8024c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7152859e844143" /><Relationship Type="http://schemas.openxmlformats.org/officeDocument/2006/relationships/notesMaster" Target="/ppt/notesMasters/notesMaster1.xml" Id="Rbddf43af70594ee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f8cd60fd554524" /><Relationship Type="http://schemas.openxmlformats.org/officeDocument/2006/relationships/notesMaster" Target="/ppt/notesMasters/notesMaster1.xml" Id="R7548c841ca894c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0f36e24686416e" /><Relationship Type="http://schemas.openxmlformats.org/officeDocument/2006/relationships/notesMaster" Target="/ppt/notesMasters/notesMaster1.xml" Id="Re51866c2c01342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3881afe98f64e53" /><Relationship Type="http://schemas.openxmlformats.org/officeDocument/2006/relationships/notesMaster" Target="/ppt/notesMasters/notesMaster1.xml" Id="R3ac0410e5af0483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f9ba428b8d143c7" /><Relationship Type="http://schemas.openxmlformats.org/officeDocument/2006/relationships/notesMaster" Target="/ppt/notesMasters/notesMaster1.xml" Id="R900049ca3c4c40d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c161618b564945" /><Relationship Type="http://schemas.openxmlformats.org/officeDocument/2006/relationships/notesMaster" Target="/ppt/notesMasters/notesMaster1.xml" Id="R627d5078f77142d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26da2643df64cd0" /><Relationship Type="http://schemas.openxmlformats.org/officeDocument/2006/relationships/notesMaster" Target="/ppt/notesMasters/notesMaster1.xml" Id="Rc86849603de94f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ecc62c0c4f1444a" /><Relationship Type="http://schemas.openxmlformats.org/officeDocument/2006/relationships/notesMaster" Target="/ppt/notesMasters/notesMaster1.xml" Id="Rac5e5f57bc4441f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7c08d5a442044f8" /><Relationship Type="http://schemas.openxmlformats.org/officeDocument/2006/relationships/notesMaster" Target="/ppt/notesMasters/notesMaster1.xml" Id="R3ec5a17fa72f4f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82de6c15c4e412b" /><Relationship Type="http://schemas.openxmlformats.org/officeDocument/2006/relationships/notesMaster" Target="/ppt/notesMasters/notesMaster1.xml" Id="R56f4ec1387d24ed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68fca0c8b934b8e" /><Relationship Type="http://schemas.openxmlformats.org/officeDocument/2006/relationships/notesMaster" Target="/ppt/notesMasters/notesMaster1.xml" Id="Reeee2bebb6e84b2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db5fb5fcb004b46" /><Relationship Type="http://schemas.openxmlformats.org/officeDocument/2006/relationships/notesMaster" Target="/ppt/notesMasters/notesMaster1.xml" Id="R8cd4a04ceadc462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b447285fa6c4d00" /><Relationship Type="http://schemas.openxmlformats.org/officeDocument/2006/relationships/notesMaster" Target="/ppt/notesMasters/notesMaster1.xml" Id="R951dc70600b04ca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285bbeaf29439c" /><Relationship Type="http://schemas.openxmlformats.org/officeDocument/2006/relationships/notesMaster" Target="/ppt/notesMasters/notesMaster1.xml" Id="Re933f6a308a544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6b5ff5276e4ddf" /><Relationship Type="http://schemas.openxmlformats.org/officeDocument/2006/relationships/notesMaster" Target="/ppt/notesMasters/notesMaster1.xml" Id="R7d623b2b49f7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开场先给听众一个承诺：这次不按 API 手册逐个函数讲，而是沿着一份顶点数据和一张纹理的生命周期，把 Shader、CPU、GPU、同步与 VMA 串成一个整体。可以先问：VkBuffer 创建成功以后，里面已经有顶点数据了吗？答案将在后面的资源与内存部分给出。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说明分享结构。前半段先解释 Shader 需要什么，再追问数据来自哪里。中段讲 CPU 怎样创建资源、描述绑定和提交工作。最后在原生内存管理的复杂性已经充分暴露后引出 VMA，这样 VMA 不会显得像孤立的第三方库。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这张图是全场导航。强调四层：数据本体、数据绑定接口、执行描述、执行与同步。后续每遇到一个 Vulkan 对象，都让听众回答它属于哪一层。提醒：GPU Resource 到 Command Buffer 不是对象所有权关系，Command Buffer 只是记录资源的使用方式。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纠正一个常见混淆：Vertex Input、Rasterization、Depth/Stencil 和 Blend 不是 Shader。Shader 只是可编程阶段。还要说明规范中的阶段顺序是描述模型，硬件实现不会简单地逐框串行执行。同步章节会解释应用如何约束可观察顺序。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https://docs.vulkan.org/spec/latest/chapters/pipelines.html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逐行解释数据入口。重点指出顶点和索引通常不放 Descriptor Set，Viewport/Scissor 是状态，不是需要上传的普通 Buffer。Framebuffer 也不是一个作为 Shader 参数上传的对象，它把 ImageView 组织成 attachment。使用 Dynamic Rendering 时则直接在 RenderingInfo 中指定 attachment。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把五条入口与上一页对应起来。Push Constant 通过命令更新，不需要应用创建一个 VkDeviceMemory。Attachment 决定输出目标。强调 Descriptor 是资源引用表，资源的数据仍然在 VkBuffer/VkImage 的 backing memory 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https://docs.vulkan.org/spec/latest/chapters/descriptorsets.html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这是对原稿最重要的修正之一。模型与纹理数据需要进入 GPU Resource，Shader 文件通常读取为 SPIR-V 字节并传给 vkCreateShaderModule。驱动在 Pipeline 创建过程中编译和链接到内部机器代码。VMA 不管理 Shader Module 或 Pipeline 的内部代码内存。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https://docs.vulkan.org/tutorial/latest/03_Drawing_a_triangle/02_Graphics_pipeline_basics/01_Shader_modules.html</a:t>
            </a:r>
          </a:p>
          <a:p xmlns:a="http://schemas.openxmlformats.org/drawingml/2006/main">
            <a:r>
              <a:t>- https://docs.vulkan.org/spec/latest/chapters/shaders.html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这里把 main.cpp 里的工作分类。CPU 不会逐个运行 Vertex Shader，而是准备 GPU 能理解的资源、状态和命令。初始化、资源加载与每帧录制是三个不同生命周期，后面会分别复盘。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区分文件缓存、进程虚拟地址和 Vulkan Device Memory。模型解析后可能重排成顶点结构，图片通常先解码，SPIR-V 保持二进制。CPU 数组还没有自动变成 GPU 资源，是否能直接访问取决于后续选择的 Memory Type。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回答开场问题：VkBuffer 创建成功以后还没有完成 backing memory 绑定。VkBuffer/VkImage 描述逻辑资源，VkDeviceMemory 表示从某个 Memory Type 分配出的内存对象，bind 把资源放到 block 的合法 offset。Swapchain Image 是例外，它的内存由 WSI 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https://docs.vulkan.org/guide/latest/memory_allocation.html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按步骤解释裸 Vulkan。Memory Requirements 决定 size、alignment 和 memoryTypeBits。findMemoryType 只能做类型筛选，仍没有解决大量资源的 block 管理、空洞复用和碎片。为每个资源单独执行 Allocate 的问题稍后集中展开。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 Heap 与 Type 的层级。图中组合仅为示意。DEVICE_LOCAL 是设备访问属性，HOST_VISIBLE 是可映射属性，HOST_COHERENT 只简化 host cache 一致性，HOST_CACHED 常适合 readback。要避免把 HOST_VISIBLE 直接翻译成性能完全相同的 CPU/GPU 共享内存。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https://docs.vulkan.org/guide/latest/memory_allocation.html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独显常把 staging 放在系统内存，最终资源放在 DEVICE_LOCAL 显存。UMA 可能让 HOST_VISIBLE 与 DEVICE_LOCAL 同时出现，可减少一次 copy。某些独显通过 BAR 也能暴露 CPU 可见的 device local 区域，所以判断不能只看显卡名称，要查询内存类型并用真实负载测量。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https://docs.vulkan.org/guide/latest/memory_allocation.html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按从左到右讲完整路径。staging 是应用用途，不是一种 Vulkan Memory Type。CPU memcpy 之后，非 coherent memory 要 flush。Copy 和 Vertex Input 之间需要正确依赖。GPU 完成前不能复用同一 staging 区域，通常通过 Fence 或 Timeline 完成值管理。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https://docs.vulkan.org/guide/latest/synchronization_examples.html#_upload_data_from_the_cpu_to_a_vertex_buffer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解释纹理为什么不能只复制字节。Optimal tiled Image 常不能被 CPU 直接按线性像素布局写入，所以使用 staging。Copy 前转到 TRANSFER_DST_OPTIMAL，Copy 后建立到 Shader Read 的依赖并转到 read-only layout。ImageView 和 Sampler 才会写入 Descriptor。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https://docs.vulkan.org/guide/latest/synchronization_examples.html#_upload_data_from_the_cpu_to_an_image_sampled_in_a_fragment_shader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这是内存模型的关键页。Map 只给地址，Flush/Invalidate 处理非 coherent host cache，Submit 与 Barrier 处理 device 侧执行和内存依赖。对 staging 上传，host write 在 submit 之前，Queue Submit 会执行 host-to-device domain operation，所以通常不需要在 copy 前再放 HOST 到 TRANSFER barrier，但非 coherent range 仍需先 flush。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https://docs.vulkan.org/spec/latest/chapters/synchronization.html</a:t>
            </a:r>
          </a:p>
          <a:p xmlns:a="http://schemas.openxmlformats.org/drawingml/2006/main">
            <a:r>
              <a:t>- https://gpuopen-librariesandsdks.github.io/VulkanMemoryAllocator/html/memory_mapping.html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 staging 不是绝对规则。静态资源适合一次上传、多次读取。Uniform 常放持久映射的 per-frame 区域。Readback 更重视 CPU 读取，通常偏好 HOST_CACHED。UMA 设备还可能直接写最终 Buffer。最终策略需要根据硬件和真实更新频率测量。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这张对象图是整场另一个核心。DescriptorSetLayout 同时参与 PipelineLayout 和 DescriptorSet 的兼容关系，DescriptorPool 只负责分配 set。资源被写入 set，也可以作为 vertex/index/attachment 直接绑定。Command Buffer 记录 bind 命令，Queue 执行。对象仍由应用拥有并负责生命周期。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https://docs.vulkan.org/spec/latest/chapters/descriptorsets.html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按四个对象逐一讲。Layout 是形状，Pool 是 descriptor 对象容量，Set 是实际资源绑定，PipelineLayout 把 Shader 可访问的全部 set layout 和 push constant range 组合起来。PipelineLayout 与 vkCmdBindDescriptorSets 使用的 layout 必须兼容。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https://docs.vulkan.org/spec/latest/chapters/descriptorsets.html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Pipeline 把 Shader、Vertex Input 与大部分固定功能状态提前组合，驱动可以在创建阶段链接 Shader 接口和准备硬件状态。PipelineLayout 描述资源接口，但 Pipeline 不包含某一帧具体 DescriptorSet、纹理像素或 MVP 值。动态状态仍要在 Draw 前记录。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https://docs.vulkan.org/spec/latest/chapters/pipelines.html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介绍状态机，不用深入所有 flag。重点是 submit 后进入 pending，应用需要完成点才能安全 reset 或复用。ONE_TIME_SUBMIT 完成后会进入 invalid，普通情况返回 executable。Secondary Command Buffer 不能直接提交，要由 Primary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https://docs.vulkan.org/spec/latest/chapters/cmdbuffers.html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按代码顺序讲状态汇合。Draw 本身参数很少，因为大量状态已在前面的 bind 与 set 命令中建立。Command Buffer 记录的是对象句柄和使用方式，不接管对象所有权。所有被 pending 命令访问的对象都必须保持合法。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https://docs.vulkan.org/spec/latest/chapters/cmdbuffers.html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避免说 GPU 逐字解释 VkCommandBuffer 结构体。驱动可能在 Pipeline 创建、记录或 Submit 阶段完成不同工作，硬件读取的是实现生成的命令流。规范保证的是可观察语义。Queue 中的提交有 submission order，但没有同步时命令仍可能重叠或重排。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https://docs.vulkan.org/spec/latest/chapters/cmdbuffers.html</a:t>
            </a:r>
          </a:p>
          <a:p xmlns:a="http://schemas.openxmlformats.org/drawingml/2006/main">
            <a:r>
              <a:t>- https://docs.vulkan.org/spec/latest/chapters/pipelines.html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Acquire 返回可用的 image index，并让 imageAvailable 在图像可用时 signal。Graphics Submit 等待它，完成后 signal renderFinished。Present 等待 renderFinished。Fence 属于 submit 到 host 的完成通知。Swapchain image 可以创建 image view，但不能由 VMA 分配内存。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教听众一个可重复使用的推导方法。看到同步问题先找前后操作，再确定源 stage/access 和目标 stage/access，最后检查 queue family ownership 与 image layout。命令记录顺序形成 submission order，但它本身不等于完整执行与内存依赖。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https://docs.vulkan.org/spec/latest/chapters/synchronization.html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Barrier 管 pipeline stage 与 memory access，Semaphore 连接 queue operations，Fence 把 queue 完成通知 host。Timeline Semaphore 也支持 host wait/signal，但概念上仍是带递增值的 semaphore。强调 VMA 只管 allocation，不知道某次资源访问的前后依赖。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https://docs.vulkan.org/spec/latest/chapters/synchronization.html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说明常见双缓冲或三缓冲 FrameContext。开始复用某个 context 前等待它的 fence，完成后才 reset command pool、覆盖 uniform 区域和回收临时资源。Swapchain image count 与 frame context count 可能相近，但没有必须相等的规则。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把内存对齐分成四类，避免只记一个 alignment。VMA 会处理 resource requirement、bufferImageGranularity 和其映射分配的 nonCoherentAtomSize 约束。但 Uniform 结构在 Shader 中的 std140/std430/scalar layout，以及动态 offset 的布局策略，仍需引擎代码与 Shader 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https://docs.vulkan.org/spec/latest/chapters/limits.html</a:t>
            </a:r>
          </a:p>
          <a:p xmlns:a="http://schemas.openxmlformats.org/drawingml/2006/main">
            <a:r>
              <a:t>- https://gpuopen-librariesandsdks.github.io/VulkanMemoryAllocator/html/memory_mapping.html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vkAllocateMemory 可能进入驱动和操作系统的重量级路径，而且设备有 maxMemoryAllocationCount。正确规模化方式是少量大 Block 加子分配。子分配器还需要追踪 offset、alignment、free range、granularity、dedicated allocation 与线程安全，因此手写并不简单。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https://docs.vulkan.org/guide/latest/memory_allocation.html</a:t>
            </a:r>
          </a:p>
          <a:p xmlns:a="http://schemas.openxmlformats.org/drawingml/2006/main">
            <a:r>
              <a:t>- https://docs.vulkan.org/spec/latest/chapters/limits.html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正式引出 VMA。VmaAllocator 管理 memory types、默认 pools 与 blocks。VmaAllocation 是一次 allocation 的句柄，多数情况下指向某个大 VkDeviceMemory 中的一段，而不是独占整个 memory。VmaPool 是可选的专用池，默认池应当优先。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https://gpuopen-librariesandsdks.github.io/VulkanMemoryAllocator/html/quick_start.html</a:t>
            </a:r>
          </a:p>
          <a:p xmlns:a="http://schemas.openxmlformats.org/drawingml/2006/main">
            <a:r>
              <a:t>- https://gpuopen-librariesandsdks.github.io/VulkanMemoryAllocator/html/custom_memory_pools.html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VMA 3.x 推荐 AUTO 系列。静态资源偏好 device，staging 指明顺序写和 mapped，readback 指明 random access 并偏好 cached。强调 MAPPED_BIT 自身不保证 host visible。旧的 GPU_ONLY、CPU_TO_GPU、GPU_TO_CPU 仍兼容，但新代码优先 AUTO。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https://gpuopen-librariesandsdks.github.io/VulkanMemoryAllocator/html/choosing_memory_type.html</a:t>
            </a:r>
          </a:p>
          <a:p xmlns:a="http://schemas.openxmlformats.org/drawingml/2006/main">
            <a:r>
              <a:t>- https://gpuopen-librariesandsdks.github.io/VulkanMemoryAllocator/html/memory_mapping.html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按代码指出边界。vmaCreateBuffer 合并了 create、requirements、type selection、allocation 和 bind。vmaCopyMemoryToAllocation 能按需要临时 map 并 flush。VMA 不会自动记录 copy、barrier 或 submit，也不会判断 staging 什么时候可以回收。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https://gpuopen-librariesandsdks.github.io/VulkanMemoryAllocator/html/quick_start.html</a:t>
            </a:r>
          </a:p>
          <a:p xmlns:a="http://schemas.openxmlformats.org/drawingml/2006/main">
            <a:r>
              <a:t>- https://gpuopen-librariesandsdks.github.io/VulkanMemoryAllocator/html/memory_mapping.html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Dedicated allocation 适合驱动要求或非常大的资源。Custom Pool 不应仅为逻辑分类而滥用，默认池能跨兼容 memory type 回退。Budget 可支持纹理流送与淘汰。Defragmentation 需要应用重建 Buffer/Image、录制 copy、等待完成并更新 descriptor，所以它不是自动的一键压缩。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资料：</a:t>
            </a:r>
          </a:p>
          <a:p xmlns:a="http://schemas.openxmlformats.org/drawingml/2006/main">
            <a:r>
              <a:t>- https://gpuopen-librariesandsdks.github.io/VulkanMemoryAllocator/html/custom_memory_pools.html</a:t>
            </a:r>
          </a:p>
          <a:p xmlns:a="http://schemas.openxmlformats.org/drawingml/2006/main">
            <a:r>
              <a:t>- https://gpuopen-librariesandsdks.github.io/VulkanMemoryAllocator/html/statistics.html</a:t>
            </a:r>
          </a:p>
          <a:p xmlns:a="http://schemas.openxmlformats.org/drawingml/2006/main">
            <a:r>
              <a:t>- https://gpuopen-librariesandsdks.github.io/VulkanMemoryAllocator/html/defragmentation.html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建议讲解：2 分钟内容总结，随后 6 分钟提问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用三段生命周期收尾。最后再重复一句：Shader 决定数据需求，CPU 创建资源和执行描述，Command Buffer 记录使用方式，Queue 提交工作，同步保证可见性与生命周期，VMA 位于资源和 VkDeviceMemory 之间。建议用三个提问检查理解：VmaAllocation 是否等于 VkDeviceMemory，HOST_COHERENT 是否替代 Barrier，DescriptorSet 是否拥有纹理数据。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011def9544c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9eec4a2cd44262" /><Relationship Type="http://schemas.openxmlformats.org/officeDocument/2006/relationships/slideLayout" Target="/ppt/slideLayouts/slideLayout1.xml" Id="R8580ef31faed4b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0ef31faed4b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49b74fe9340f2" /><Relationship Type="http://schemas.openxmlformats.org/officeDocument/2006/relationships/notesSlide" Target="/ppt/notesSlides/notesSlide1.xml" Id="R592df11eab71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b845bd3564e4e" /><Relationship Type="http://schemas.openxmlformats.org/officeDocument/2006/relationships/notesSlide" Target="/ppt/notesSlides/notesSlide2.xml" Id="R14a01451a6ae48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448e45411497d" /><Relationship Type="http://schemas.openxmlformats.org/officeDocument/2006/relationships/notesSlide" Target="/ppt/notesSlides/notesSlide3.xml" Id="Raf18b7cce27a48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2a4994c8546da" /><Relationship Type="http://schemas.openxmlformats.org/officeDocument/2006/relationships/notesSlide" Target="/ppt/notesSlides/notesSlide4.xml" Id="R0beb642153bb40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09d52c035497e" /><Relationship Type="http://schemas.openxmlformats.org/officeDocument/2006/relationships/notesSlide" Target="/ppt/notesSlides/notesSlide5.xml" Id="Rb8b1ed0ee01142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4dd82edb4441c" /><Relationship Type="http://schemas.openxmlformats.org/officeDocument/2006/relationships/notesSlide" Target="/ppt/notesSlides/notesSlide6.xml" Id="Rf481ba4c537a44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fb27c920b4617" /><Relationship Type="http://schemas.openxmlformats.org/officeDocument/2006/relationships/notesSlide" Target="/ppt/notesSlides/notesSlide7.xml" Id="R05494ef72e38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49349c2cb47b6" /><Relationship Type="http://schemas.openxmlformats.org/officeDocument/2006/relationships/notesSlide" Target="/ppt/notesSlides/notesSlide8.xml" Id="Rda89ea451b814d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0a32128e4268" /><Relationship Type="http://schemas.openxmlformats.org/officeDocument/2006/relationships/notesSlide" Target="/ppt/notesSlides/notesSlide9.xml" Id="Rf88be89634ba45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777f00a54f47" /><Relationship Type="http://schemas.openxmlformats.org/officeDocument/2006/relationships/notesSlide" Target="/ppt/notesSlides/notesSlide10.xml" Id="Rfbfd5a7c7ca84a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e5be82ef14a97" /><Relationship Type="http://schemas.openxmlformats.org/officeDocument/2006/relationships/notesSlide" Target="/ppt/notesSlides/notesSlide11.xml" Id="R10361e8b189942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db09cc21d4a63" /><Relationship Type="http://schemas.openxmlformats.org/officeDocument/2006/relationships/notesSlide" Target="/ppt/notesSlides/notesSlide12.xml" Id="Ra648ef5cac424b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8714aea474022" /><Relationship Type="http://schemas.openxmlformats.org/officeDocument/2006/relationships/notesSlide" Target="/ppt/notesSlides/notesSlide13.xml" Id="R1505e0392e6248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33ba9061d476c" /><Relationship Type="http://schemas.openxmlformats.org/officeDocument/2006/relationships/notesSlide" Target="/ppt/notesSlides/notesSlide14.xml" Id="Rfedd01a6e05742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6a49be03448f3" /><Relationship Type="http://schemas.openxmlformats.org/officeDocument/2006/relationships/notesSlide" Target="/ppt/notesSlides/notesSlide15.xml" Id="Rc71cccb013a044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e27c9e60a4425" /><Relationship Type="http://schemas.openxmlformats.org/officeDocument/2006/relationships/notesSlide" Target="/ppt/notesSlides/notesSlide16.xml" Id="R07ae6ca3316641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5c575660a491b" /><Relationship Type="http://schemas.openxmlformats.org/officeDocument/2006/relationships/notesSlide" Target="/ppt/notesSlides/notesSlide17.xml" Id="R648b3c92d8804a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53ff5b2ed4c79" /><Relationship Type="http://schemas.openxmlformats.org/officeDocument/2006/relationships/notesSlide" Target="/ppt/notesSlides/notesSlide18.xml" Id="R744edd06751449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c409e66394a4b" /><Relationship Type="http://schemas.openxmlformats.org/officeDocument/2006/relationships/notesSlide" Target="/ppt/notesSlides/notesSlide19.xml" Id="Ra102a1498a8c44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6d2dd170431d" /><Relationship Type="http://schemas.openxmlformats.org/officeDocument/2006/relationships/notesSlide" Target="/ppt/notesSlides/notesSlide20.xml" Id="Rc53567a241f341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5958c0f864f04" /><Relationship Type="http://schemas.openxmlformats.org/officeDocument/2006/relationships/notesSlide" Target="/ppt/notesSlides/notesSlide21.xml" Id="Ra240e4770abf47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f9dadef74aa0" /><Relationship Type="http://schemas.openxmlformats.org/officeDocument/2006/relationships/notesSlide" Target="/ppt/notesSlides/notesSlide22.xml" Id="R1f3fd69b11b64d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a1dda187d4557" /><Relationship Type="http://schemas.openxmlformats.org/officeDocument/2006/relationships/notesSlide" Target="/ppt/notesSlides/notesSlide23.xml" Id="R636025e8c4a642d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70eb1acb74ae0" /><Relationship Type="http://schemas.openxmlformats.org/officeDocument/2006/relationships/notesSlide" Target="/ppt/notesSlides/notesSlide24.xml" Id="R51ba64e843b94b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6de17ff0444e7" /><Relationship Type="http://schemas.openxmlformats.org/officeDocument/2006/relationships/notesSlide" Target="/ppt/notesSlides/notesSlide25.xml" Id="Rc6263486d3884e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653e8fa114dbc" /><Relationship Type="http://schemas.openxmlformats.org/officeDocument/2006/relationships/notesSlide" Target="/ppt/notesSlides/notesSlide26.xml" Id="R1966788b08b347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1dfc65104ce1" /><Relationship Type="http://schemas.openxmlformats.org/officeDocument/2006/relationships/notesSlide" Target="/ppt/notesSlides/notesSlide27.xml" Id="R1b18783c68d548f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d463f1e2c4420" /><Relationship Type="http://schemas.openxmlformats.org/officeDocument/2006/relationships/notesSlide" Target="/ppt/notesSlides/notesSlide28.xml" Id="Ra5c54be473254f8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43fdbd277416e" /><Relationship Type="http://schemas.openxmlformats.org/officeDocument/2006/relationships/notesSlide" Target="/ppt/notesSlides/notesSlide29.xml" Id="R8009b55d22074c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35290abc4e9f" /><Relationship Type="http://schemas.openxmlformats.org/officeDocument/2006/relationships/notesSlide" Target="/ppt/notesSlides/notesSlide30.xml" Id="R9867af1197c64a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ba69f18934c77" /><Relationship Type="http://schemas.openxmlformats.org/officeDocument/2006/relationships/notesSlide" Target="/ppt/notesSlides/notesSlide31.xml" Id="Rd77463f9f53b48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c2df3f3c4664" /><Relationship Type="http://schemas.openxmlformats.org/officeDocument/2006/relationships/notesSlide" Target="/ppt/notesSlides/notesSlide32.xml" Id="R05d437e82f0a42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16fa8af0344ed" /><Relationship Type="http://schemas.openxmlformats.org/officeDocument/2006/relationships/notesSlide" Target="/ppt/notesSlides/notesSlide33.xml" Id="Rca84256b87d146e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7b5157d304ca8" /><Relationship Type="http://schemas.openxmlformats.org/officeDocument/2006/relationships/notesSlide" Target="/ppt/notesSlides/notesSlide34.xml" Id="R4685dbf9b53749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FEEE5-9493-4B94-8012-E1AEC9C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Vulkan 渲染流程、</a:t>
            </a:r>
          </a:p>
          <a:p xmlns:a="http://schemas.openxmlformats.org/drawingml/2006/main">
            <a:pPr algn="l">
              <a:defRPr sz="4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内存模型与 VMA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3B29D-F013-458B-AF60-9246BCC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从 Shader 数据需求，讲到 CPU 上传、Pipeline、Submit 与 GPU 内存分配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1CF5-C2A5-4637-A57C-AFDEEE61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Shader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19D57-0968-49A5-8C50-ECAC179C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2880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Descriptor /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39106-0E9F-4121-BA41-3C394A5C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Command Buffer /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01AB-23E9-4C98-ADCC-9DC5E56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VkBuffer / VkImage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AFA6B-7140-4216-8304-344EFC46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4345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VMA / VkDeviceMemory</a:t>
            </a:r>
          </a:p>
        </p:txBody>
      </p: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9858375" y="15240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58375" y="24955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58375" y="34671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858375" y="44386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6CE15-A7D6-4E96-A8A8-5E3DFA90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约 60 分钟技术分享</a:t>
            </a:r>
          </a:p>
        </p:txBody>
      </p:sp>
    </p:spTree>
    <p:extLst>
      <p:ext uri="{BB962C8B-B14F-4D97-AF65-F5344CB8AC3E}">
        <p14:creationId xmlns:p14="http://schemas.microsoft.com/office/powerpoint/2010/main" val="1560653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989D9A-B45E-4CE1-82A0-3DF899D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361AF-549C-44F6-8943-00EF760F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60 分钟路线图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B46A-2F78-48CC-803D-F024F72B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3 min 开场 + 49 min 主体 + 8 min 总结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AE8CA-96B1-49BC-9EC5-411280D2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DE63-156A-4E79-AB38-F39F2C40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01CD8-6F6F-4C4A-81B1-FE18369E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E15A7-1F52-4385-BA3F-2704163A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BE88C-4911-44BB-A09A-938355E0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数据需求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2848D-ECE0-4ACB-A006-E2CE44D5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25234-F629-4162-8840-A4EF1706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8F23E-345E-4C20-9719-597410B1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A65C-BD92-4128-8D1B-AB04D29E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与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内存上传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18E07-3D51-4C0A-A0E4-D925E5F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850A8-FB92-44F6-AA12-18622C51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13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4A2D2-3BB0-4C89-BE06-BA02FF87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11926-F352-4527-A4FF-41796FEF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对象与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命令组织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D8345-1532-4CB3-8EDB-4061760E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8EE06F-F6A3-469A-9453-47ECE59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11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0CFEA-B207-4D08-8190-4BED9A6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D4134-D017-4E63-8453-0583C15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同步与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多帧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26515-7D9E-41EF-B4DE-07C32365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40279-825C-41BC-AA4D-609B9F4D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6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0DD44-C502-4FA3-A7FA-CE19C0E9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88D33-B1A3-4B85-B2BB-BA21248D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对齐与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子分配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5563D-E4CE-4794-B29C-E26FF64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38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62828-F695-43B3-BA9E-E4B85A63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4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3A7A2-5FA9-46C6-8E2D-4CAAF3AB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954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FED8D-ADD9-409E-84E1-7379154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2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</a:t>
            </a:r>
          </a:p>
          <a:p xmlns:a="http://schemas.openxmlformats.org/drawingml/2006/main">
            <a:pPr algn="ctr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工程化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184E7-A8E5-472D-A5B2-E161ABC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337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DD9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46E8C-39E3-4C24-A0F0-1D71F54F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24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8 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EEFD9-A261-4B76-B137-2953F28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贯穿问题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DF381-9E8F-4007-B6AB-B503331F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一份文件里的字节，怎样变成 Shader 可以安全读取的 GPU 资源？</a:t>
            </a:r>
          </a:p>
        </p:txBody>
      </p:sp>
    </p:spTree>
    <p:extLst>
      <p:ext uri="{BB962C8B-B14F-4D97-AF65-F5344CB8AC3E}">
        <p14:creationId xmlns:p14="http://schemas.microsoft.com/office/powerpoint/2010/main" val="1773879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761AE-8804-4457-AA74-FED69CD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3DF95-08A7-4372-9D59-0D18EDBB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一帧渲染的全局地图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5EB9-E8F4-4D12-8C24-5AB0D556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数据主线；SPIR-V 走 CPU → ShaderModule → Pipeline，不经过应用 staging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682F4-F85A-4EF3-BE9F-0BF9D65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8BDCB-9AF1-4E81-BFE7-7E3A0DE6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B6DE4-5F0B-4FA6-867E-614AC2B3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51CE2-128B-4FA9-A9A4-B44DA3C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50983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模型 / 纹理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A2492-8017-4A2B-8F58-B561B91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14500"/>
            <a:ext cx="250983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内存</a:t>
            </a:r>
          </a:p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解析与解码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4121E-463C-4359-A6DB-F020FEF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250983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Upload Memory</a:t>
            </a:r>
          </a:p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Mapped staging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67015-F7C1-4703-86FD-24FE56D6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1714500"/>
            <a:ext cx="2509838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GPU Resource</a:t>
            </a:r>
          </a:p>
          <a:p xmlns:a="http://schemas.openxmlformats.org/drawingml/2006/main">
            <a:pPr algn="ctr">
              <a:def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Buffer / Image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57538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53126" y="21526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48713" y="2152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45E4-038A-4018-AC95-705D223E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90900"/>
            <a:ext cx="4857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Command Buffer</a:t>
            </a:r>
          </a:p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绑定资源 + Pipeline + Draw</a:t>
            </a:r>
          </a:p>
        </p:txBody>
      </p:sp>
      <p:cxnSp>
        <p:nvCxnSpPr>
          <p:cNvPr id="3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590800"/>
            <a:ext cx="4193382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47139-C0A8-4359-AF47-43F22C9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57750"/>
            <a:ext cx="2476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Queue Submit</a:t>
            </a:r>
          </a:p>
        </p:txBody>
      </p:sp>
      <p:cxnSp>
        <p:nvCxnSpPr>
          <p:cNvPr id="35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43243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00B82-FCB8-410E-966D-E94BC404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0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同步约束贯穿 Upload、Draw、Present 与资源复用</a:t>
            </a:r>
          </a:p>
        </p:txBody>
      </p:sp>
    </p:spTree>
    <p:extLst>
      <p:ext uri="{BB962C8B-B14F-4D97-AF65-F5344CB8AC3E}">
        <p14:creationId xmlns:p14="http://schemas.microsoft.com/office/powerpoint/2010/main" val="1475984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3EF0AE-5D78-4E2A-A589-388DECAA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F380C-309F-4850-90AF-700DFE0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图形流水线中的 Shader 与固定功能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380F2-89B2-403E-8EDB-0535AF2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经典图形管线的逻辑顺序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88EF5-2C29-4C93-8838-1AAF904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DCCA4-9E6B-4700-885C-588F39F8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第一部分｜Shader 与数据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B958F-AECD-40BD-91E4-6ED6D01D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3273-F6B4-4961-BF94-327CC557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/ Index</a:t>
            </a:r>
          </a:p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4B380-978C-4E03-8C05-DB0E73F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固定功能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14829-D9DB-45B6-8F09-1BB6F61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Vertex</a:t>
            </a:r>
          </a:p>
          <a:p xmlns:a="http://schemas.openxmlformats.org/drawingml/2006/main">
            <a:pPr algn="ctr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Shader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8FDDA-4F71-418D-A162-E63D130D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可编程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EE54E-828B-4453-AE0E-C55585FE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Primitive</a:t>
            </a:r>
          </a:p>
          <a:p xmlns:a="http://schemas.openxmlformats.org/drawingml/2006/main">
            <a:pPr algn="ctr">
              <a:def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Assembly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12A2D-3865-4A11-A108-5A5424B8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固定功能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CFED7-2E8F-4849-BFF7-06E58EBD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Rasterization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75CFD-920C-4AC4-89AA-C5BFBA8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固定功能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24334-1DEA-46B0-9C55-407562D4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Fragment</a:t>
            </a:r>
          </a:p>
          <a:p xmlns:a="http://schemas.openxmlformats.org/drawingml/2006/main">
            <a:pPr algn="ctr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033C9-81DB-4DCD-B7FE-AFCDA28A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可编程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F9561-C8CE-46BE-AA2F-902EE164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0980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Depth / Blend</a:t>
            </a:r>
          </a:p>
          <a:p xmlns:a="http://schemas.openxmlformats.org/drawingml/2006/main">
            <a:pPr algn="ctr">
              <a:def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Attachment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FA866-F960-41B7-9734-677C18B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099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固定功能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33600" y="27432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29075" y="27432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24550" y="27432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20025" y="27432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715500" y="27432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E0DBA-FF68-4F4C-BBEF-9EE25C5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可选阶段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94876-C013-431F-B2B5-F54AE8B5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01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Tessellation Control / Evaluation、Geometry。Mesh Shader 管线会改变传统前端结构。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8172A-F172-4B99-92FA-0CE6D626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19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逻辑阶段用于描述 API。真实 GPU 会流水、并行、缓存与重排。</a:t>
            </a:r>
          </a:p>
        </p:txBody>
      </p:sp>
    </p:spTree>
    <p:extLst>
      <p:ext uri="{BB962C8B-B14F-4D97-AF65-F5344CB8AC3E}">
        <p14:creationId xmlns:p14="http://schemas.microsoft.com/office/powerpoint/2010/main" val="821183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AA3C3-ECAF-4028-9544-5A29DD08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339A6-2D41-48BA-AB8A-04FC6C3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各阶段的数据需求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E9AE1-724A-45AC-8911-78FD9B10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先列出需求，再追问每类数据从哪里来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98FBE-4A04-4B78-B9A5-7B7EE908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DDA43-F6A1-4D99-A9CD-F1A514CD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第一部分｜Shader 与数据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F8A40-F989-49FE-BE26-8AC732A1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FA50A-F4E7-48A3-B1A4-EC56B2C1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7737-6BFF-4755-A37F-3D60B30A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典型数据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BC12A-453D-4589-89B6-9AA8FBBB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19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进入方式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672BA-4E9B-4F9B-B539-3CCF181E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CBD52-08DC-4D7B-8D9E-CFEFEE9C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39F64-174E-4591-A0C0-76FA0E8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顶点属性、索引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95AB6-1FE7-48BC-904F-F992CCA1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764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Vertex / Index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6323F-CDB1-42F7-8A91-38FB3975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C872C-F6E2-4CC7-AB34-511E49C6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Vertex Shader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D44D3-55D3-4610-BDC7-5FFF6DE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矩阵、骨骼、实例数据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7ECA1-E527-4FDF-986A-72CF481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Descriptor / Push Constant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66B28-E9DC-4D87-ACA6-497CCCE7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486BC-1BD7-4003-A837-61A47AE3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Rasterization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62D72-C128-4C9F-9CC9-EB75D9EB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Viewport、Scissor、光栅状态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DD63B-434E-4407-BB67-3EA920E5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Pipeline / Dynamic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88FA7-477C-48C7-9DA5-BADD711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14486-C07D-4C56-B969-BE46DF83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Fragment Shader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F903E-C155-422D-A06D-CC5C43B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纹理、Sampler、材质参数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B5540-6ADB-4772-A235-0EAF17D4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Descriptor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A6B89-F4B2-4D51-8AC7-60409D11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BC437-A48D-4C4B-8F71-5C14F4D0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Depth / Blend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F4B26-A381-45F3-96B0-4E5F53C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Depth、Stencil、Color Attachment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C0834-F9D5-4E0C-8F11-AF6AD3B5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482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Rendering Attachment</a:t>
            </a:r>
          </a:p>
        </p:txBody>
      </p:sp>
    </p:spTree>
    <p:extLst>
      <p:ext uri="{BB962C8B-B14F-4D97-AF65-F5344CB8AC3E}">
        <p14:creationId xmlns:p14="http://schemas.microsoft.com/office/powerpoint/2010/main" val="2049538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2F47D-D2CE-4E9A-B3D6-F4922F7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4050-5785-4574-B5E7-C96BFA67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 数据的五条入口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B0867-4213-4831-8AA4-9475AAA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Draw 时多类状态在 Command Buffer 中汇合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4E677-5C07-444D-83D7-168C6968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7E4E3-2252-4CB2-81B1-9C2835A5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第一部分｜Shader 与数据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1B9E9-F4F6-4785-9C41-1E9AD0E8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150B-BF12-4EC3-9E7A-FFFB384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Draw / DrawIndexed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212A3-1214-4C6C-B898-39C5B051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714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/ Index</a:t>
            </a:r>
          </a:p>
          <a:p xmlns:a="http://schemas.openxmlformats.org/drawingml/2006/main">
            <a:pPr algn="ctr">
              <a:def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绑定命令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81375" y="2124075"/>
            <a:ext cx="12382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8F778-C6B1-4D67-987B-5EC724B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2714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Descriptor Set</a:t>
            </a:r>
          </a:p>
          <a:p xmlns:a="http://schemas.openxmlformats.org/drawingml/2006/main">
            <a:pPr algn="ctr">
              <a:def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Buffer / Image / Sampler</a:t>
            </a:r>
          </a:p>
        </p:txBody>
      </p: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62325" y="3219450"/>
            <a:ext cx="12573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6DC11-2F63-43B8-91E6-A46EF953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2714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Push Constant</a:t>
            </a:r>
          </a:p>
          <a:p xmlns:a="http://schemas.openxmlformats.org/drawingml/2006/main">
            <a:pPr algn="ctr">
              <a:def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少量常量</a:t>
            </a:r>
          </a:p>
        </p:txBody>
      </p: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96000" y="3676650"/>
            <a:ext cx="61913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DD9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336EC-A86B-4334-9787-E4B37E35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43375"/>
            <a:ext cx="2714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Dynamic State</a:t>
            </a:r>
          </a:p>
          <a:p xmlns:a="http://schemas.openxmlformats.org/drawingml/2006/main">
            <a:pPr algn="ctr">
              <a:def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Viewport / Scissor</a:t>
            </a:r>
          </a:p>
        </p:txBody>
      </p:sp>
      <p:cxnSp>
        <p:nvCxnSpPr>
          <p:cNvPr id="33" name=""/>
          <p:cNvCxnSpPr>
            <a:stCxn xmlns:a="http://schemas.openxmlformats.org/drawingml/2006/main" id="14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572375" y="3219450"/>
            <a:ext cx="11430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FC9FB-C3D0-4C96-B1A7-F06731F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714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Attachment</a:t>
            </a:r>
          </a:p>
          <a:p xmlns:a="http://schemas.openxmlformats.org/drawingml/2006/main">
            <a:pPr algn="ctr">
              <a:defRPr sz="15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Color / Depth</a:t>
            </a:r>
          </a:p>
        </p:txBody>
      </p:sp>
      <p:cxnSp>
        <p:nvCxnSpPr>
          <p:cNvPr id="35" name=""/>
          <p:cNvCxnSpPr>
            <a:stCxn xmlns:a="http://schemas.openxmlformats.org/drawingml/2006/main" id="1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72375" y="2124075"/>
            <a:ext cx="119062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381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5A6BB-AD60-488B-B587-B05F1292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9595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Descriptor 保存资源绑定信息，不拥有 Buffer 或纹理内容</a:t>
            </a:r>
          </a:p>
        </p:txBody>
      </p:sp>
    </p:spTree>
    <p:extLst>
      <p:ext uri="{BB962C8B-B14F-4D97-AF65-F5344CB8AC3E}">
        <p14:creationId xmlns:p14="http://schemas.microsoft.com/office/powerpoint/2010/main" val="1069609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C41B1-DA55-4FED-8798-B829122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C83A1-67F5-4210-BA40-16690600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 文件的特殊路径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FB0BC-1A2F-46CD-A59C-922EC2F4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SPIR-V 用于创建 Shader Module 与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CDDBE-2174-46A8-8EE1-ED499A0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63400-6259-40C1-A416-C5C93B75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第一部分｜Shader 与数据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31C1F-CCB8-45F9-8339-5737CA0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551B6-4C29-4B3F-BB43-C9F45EB0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GLSL / HLSL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721DA-22D7-44B9-8C3E-8A8A7F47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01FAE-B6B4-44C5-98DC-2E7A42D4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SPIR-V 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45AC8-B43E-4A8C-8B69-1283517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字节数组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230EC-B2B6-4BAF-875B-13563526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VkShaderModule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57940-C2BF-470D-B48F-EC4A5CD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669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VkPipeline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717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767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817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867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91700" y="26860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A0266-DE7C-441A-ABF4-0FB0A5F5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 Module 创建接收 CPU 地址空间中的 SPIR-V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7E662-180C-409A-9DDC-7508283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不走普通纹理或顶点的 staging copy 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CA0C5-80E6-4BA5-A88F-7911F75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530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Pipeline 创建完成后，若无其他用途，可以销毁 Shader Module。驱动管理内部可执行代码。</a:t>
            </a:r>
          </a:p>
        </p:txBody>
      </p:sp>
    </p:spTree>
    <p:extLst>
      <p:ext uri="{BB962C8B-B14F-4D97-AF65-F5344CB8AC3E}">
        <p14:creationId xmlns:p14="http://schemas.microsoft.com/office/powerpoint/2010/main" val="13286615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F2564-29D5-47EC-ABC0-F6AF379E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18DAE-D531-4264-AFD2-FF2C878C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进程的职责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F86C3-ADD5-431F-81C8-059F4D03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CPU 准备资源、状态和命令，GPU 执行图形工作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1C33C-86AE-4038-B9CC-4DD6FEB9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9D15D-5E4E-4B33-B947-7AC5A2D8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C9445-EBCA-45D3-BFE7-90248E04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635F9-D8D8-4AEC-85B9-EA806597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685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初始化 Instance、Device、Queue、Surface 与 Swapchain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读取并解析模型、纹理、材质和 SPIR-V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创建 Buffer/Image，并完成内存分配与绑定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建立 Descriptor Layout、Pipeline Layout 与 Pipeline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记录 Copy、Barrier、Draw 等命令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提交 Queue，并根据完成点复用或销毁资源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BEF79-3933-485C-9B3C-01AE28A5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24050"/>
            <a:ext cx="271462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资源准备与调度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B8577-CB7B-4C84-9FA7-C40767B2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10050"/>
            <a:ext cx="271462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执行 Shader 与固定功能</a:t>
            </a:r>
          </a:p>
        </p:txBody>
      </p:sp>
      <p:cxnSp>
        <p:nvCxnSpPr>
          <p:cNvPr id="2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786938" y="293370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76D04-B42A-4DB9-8DC1-8CD00F3D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Command Stream</a:t>
            </a:r>
          </a:p>
        </p:txBody>
      </p:sp>
    </p:spTree>
    <p:extLst>
      <p:ext uri="{BB962C8B-B14F-4D97-AF65-F5344CB8AC3E}">
        <p14:creationId xmlns:p14="http://schemas.microsoft.com/office/powerpoint/2010/main" val="570634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55060-BAC0-4192-A7CD-91F65B11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BB0C8-9EA1-4F62-968E-A762E931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文件进入 CPU 内存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63959-3E6F-4B76-B4BD-E047496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文件在 RAM 中仍只是进程数据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BADC7-5363-441B-8A32-16A860C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38F56-AE49-4C54-9A7F-42CD4376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37C0F-082E-44FF-A132-B7C90FC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72189-E18A-4F62-999A-4FE7C584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SSD / 文件系统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688B8-AE3D-4381-9D1A-24B7A22A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571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进程虚拟地址空间</a:t>
            </a:r>
          </a:p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read / mmap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43200" y="32670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458B05-DE80-4D0B-996B-2A53B9E6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811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顶点 / 索引数组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153150" y="1924050"/>
            <a:ext cx="99060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C1207-143F-4543-B18A-C0A3E634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03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解码后的像素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153150" y="3143250"/>
            <a:ext cx="99060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99662-3608-49A0-9C86-A09BD804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1955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SPIR-V 字节</a:t>
            </a:r>
          </a:p>
        </p:txBody>
      </p: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153150" y="3267075"/>
            <a:ext cx="9906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DD9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59FAB-D001-4217-80C9-37F2C196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245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进入 RAM ≠ GPU 已经可以安全、高效读取</a:t>
            </a:r>
          </a:p>
        </p:txBody>
      </p:sp>
    </p:spTree>
    <p:extLst>
      <p:ext uri="{BB962C8B-B14F-4D97-AF65-F5344CB8AC3E}">
        <p14:creationId xmlns:p14="http://schemas.microsoft.com/office/powerpoint/2010/main" val="1191067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51277-8826-47B2-9EAB-CCAAD9C6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FDBC1-59BD-40A8-B859-61516FE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Resource 与 Backing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D6F03-BB13-4E99-9BEF-092C056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创建资源、分配内存、绑定位置是三个概念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38DA6-E500-4DD1-A570-3D3DDD08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650F3-A3BD-4077-81B6-9273F807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7F66B-39C3-4E45-8EF6-F55AA54C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1E888-8B9F-46A4-9848-E1ED9087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VkBuffer</a:t>
            </a:r>
          </a:p>
          <a:p xmlns:a="http://schemas.openxmlformats.org/drawingml/2006/main">
            <a:pPr algn="ctr">
              <a:def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size / usage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6DF19-4548-44F2-8232-6AA261C1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VkImage</a:t>
            </a:r>
          </a:p>
          <a:p xmlns:a="http://schemas.openxmlformats.org/drawingml/2006/main">
            <a:pPr algn="ctr">
              <a:def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format / extent / tiling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BB294-CB99-4FEB-888A-3BD18309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3714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VkDeviceMemory Block</a:t>
            </a:r>
          </a:p>
          <a:p xmlns:a="http://schemas.openxmlformats.org/drawingml/2006/main">
            <a:pPr algn="ctr">
              <a:def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Memory Type + size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90950" y="2571750"/>
            <a:ext cx="32956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790950" y="3467100"/>
            <a:ext cx="32956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E0CE6-F2A8-46E8-8561-4F22392F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bind +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E3028-58D8-4EF5-BA6B-931791D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bind +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3C2EA-004D-41A0-8CF3-FC8B38F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816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资源对象描述用途，Memory 提供实际存储</a:t>
            </a:r>
          </a:p>
        </p:txBody>
      </p:sp>
    </p:spTree>
    <p:extLst>
      <p:ext uri="{BB962C8B-B14F-4D97-AF65-F5344CB8AC3E}">
        <p14:creationId xmlns:p14="http://schemas.microsoft.com/office/powerpoint/2010/main" val="11933033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DC175-428E-4C8C-96E0-C04F3EBF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C87A4-564B-4A4F-B28E-2DE0BE68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裸 Vulkan 的 Buffer 内存步骤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3343A-C6C5-48FE-915D-B53FE7F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每一步回答一个不同问题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5C441-03E7-44DB-894B-C063690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CBE63-380C-49EC-847E-98799CC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B1D48-F8D4-484D-B813-A0564C1C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B3FAC-EFAB-4556-8AF1-64D0B47E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87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19B7C-708A-4C19-9BCB-8A16DB22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049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vkCreateBuffer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C5364-4874-4868-BFDD-0425111F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我要什么资源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3BAF9-69D6-4192-ADC7-77FCE045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8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8DA98-E1F4-434F-AE2B-37E29D9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GetMemoryRequirements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B205E-3088-46E2-80F9-994C87C0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size / alignment / typeBits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2CC6D-0B8F-46C3-880D-244A996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B1F04-5731-46AD-BC09-99E1AA9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选择 Memory 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E365C-6B28-4123-928B-0250F9C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用途与属性匹配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D9F1B-DB74-4D35-84E3-E78EA5E2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DD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3F26F-A843-4C24-A8E9-6CBCCDCB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910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vkAllocateMemory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6CAE79-DDFF-4F3C-9FB9-D75C1201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获得 VkDeviceMemory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599F3-1DB8-46F6-A846-0790761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263D9-707A-4C41-9D17-8C63101B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863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vkBindBufferMemory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9A894-AB45-4193-BBE6-EC3556D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绑定合法 offset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31D71-3F43-41DF-BF46-A08A6648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91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规模化难点集中在第 3、4、5 步</a:t>
            </a:r>
          </a:p>
        </p:txBody>
      </p:sp>
    </p:spTree>
    <p:extLst>
      <p:ext uri="{BB962C8B-B14F-4D97-AF65-F5344CB8AC3E}">
        <p14:creationId xmlns:p14="http://schemas.microsoft.com/office/powerpoint/2010/main" val="804703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A6A09-7693-4432-957C-8A3B4186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EE66D-B3D6-4949-A5C8-8158EA64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Memory Heap 与 Memory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10DE5-6D9C-4210-ACE8-61E044C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Heap 表示容量域，Type 表示可用属性组合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CDD78-59F2-45D1-AAF4-DC6848B1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D667-2C87-4DD0-B82A-8F065BB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0CE58-79FE-4C46-BF76-35DD9E66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341C2-FD3E-4CC3-A44E-B4D750F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Memory Heap 0</a:t>
            </a:r>
          </a:p>
          <a:p xmlns:a="http://schemas.openxmlformats.org/drawingml/2006/main">
            <a:pPr algn="ctr">
              <a:def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例如专用 VRAM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1579D-9227-488C-86C9-0CCE7F8D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Memory Heap 1</a:t>
            </a:r>
          </a:p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例如系统 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D72F6-D2FA-49C3-9E0E-37198E1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238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Type 0</a:t>
            </a:r>
          </a:p>
          <a:p xmlns:a="http://schemas.openxmlformats.org/drawingml/2006/main">
            <a:pPr algn="ctr">
              <a:def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DEVICE_LOCAL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232BF-179E-481E-BA08-C025A6C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Type 1</a:t>
            </a:r>
          </a:p>
          <a:p xmlns:a="http://schemas.openxmlformats.org/drawingml/2006/main">
            <a:pPr algn="ctr">
              <a:def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DEVICE_LOCAL + HOST_VISIBLE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6D2C6-ADBC-4FFE-BE40-0AB67FC8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Type 2</a:t>
            </a:r>
          </a:p>
          <a:p xmlns:a="http://schemas.openxmlformats.org/drawingml/2006/main">
            <a:pPr algn="ctr">
              <a:def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HOST_VISIBLE + COHERENT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FDE1A-A07E-48A4-A6AD-6C87F19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2383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17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Type 3</a:t>
            </a:r>
          </a:p>
          <a:p xmlns:a="http://schemas.openxmlformats.org/drawingml/2006/main">
            <a:pPr algn="ctr">
              <a:def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HOST_VISIBLE + CACHED</a:t>
            </a:r>
          </a:p>
        </p:txBody>
      </p: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04988" y="2571750"/>
            <a:ext cx="909638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14625" y="2571750"/>
            <a:ext cx="1666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810500" y="2571750"/>
            <a:ext cx="1666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477375" y="2571750"/>
            <a:ext cx="900113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16366-7094-450F-B27E-21B5E8C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625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组合由设备报告，应用必须查询，不能写死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D3B0B-256F-42DC-9338-02A0759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531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HOST_VISIBLE 只说明可以 map。物理位置与性能仍取决于架构。</a:t>
            </a:r>
          </a:p>
        </p:txBody>
      </p:sp>
    </p:spTree>
    <p:extLst>
      <p:ext uri="{BB962C8B-B14F-4D97-AF65-F5344CB8AC3E}">
        <p14:creationId xmlns:p14="http://schemas.microsoft.com/office/powerpoint/2010/main" val="18154240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62617-0FDB-4685-82B4-7660A2E5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BCF40-C0E8-4AE8-BD5A-A8CAAEB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独显与 UMA 的上传选择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CB5AB-8519-4438-8138-556267CB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同一 API 能力在不同架构上形成不同路径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69FD6-6A24-4B56-9B4F-90DF76F9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140D0-F35A-4ABC-8704-0BC6264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EB5FF-D833-454E-9DFC-D3005D8F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D436F-B554-4D97-9AB7-B890ABE2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独立显存 GPU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FFC6B-1E9E-4921-87EC-67744430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268C9-E115-4445-86AF-1BE64D0B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381250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HOST_VISIBLE</a:t>
            </a:r>
          </a:p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12D75-2907-49D7-8E28-A67BD6D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381250"/>
            <a:ext cx="1587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791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DEVICE_LOCAL</a:t>
            </a:r>
          </a:p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VRAM</a:t>
            </a:r>
          </a:p>
        </p:txBody>
      </p: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54250" y="2809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27500" y="28098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6B49E-C26F-40C7-8589-47801C91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通常需要 Copy，PCIe 传输应批量化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586BD-378C-486C-A899-2C2F7C5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UMA / 统一内存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2F6B1-D093-4C5D-B918-C1BDD848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2143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 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A138B-9B8C-4580-9006-08528968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2143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HOST_VISIBLE</a:t>
            </a:r>
          </a:p>
          <a:p xmlns:a="http://schemas.openxmlformats.org/drawingml/2006/main">
            <a:pPr algn="ctr">
              <a:def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+ DEVICE_LOCAL</a:t>
            </a:r>
          </a:p>
        </p:txBody>
      </p: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05875" y="2809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F51B3-A4D1-4210-BBCD-A4CB348C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可能直接写最终 Buffer，减少一次 Copy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1B930-FE8F-4C9E-BE69-63FA3C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策略来自设备属性和测量结果</a:t>
            </a:r>
          </a:p>
        </p:txBody>
      </p:sp>
    </p:spTree>
    <p:extLst>
      <p:ext uri="{BB962C8B-B14F-4D97-AF65-F5344CB8AC3E}">
        <p14:creationId xmlns:p14="http://schemas.microsoft.com/office/powerpoint/2010/main" val="1539074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03CEA-EEEF-4127-A392-0BE9BA55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043AA-56CD-4027-A045-D83AFD6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静态 Vertex Buffer 上传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2BDB3-95FC-4186-9496-36BF2820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CPU 写 staging，GPU Copy 到 device local，再交给 Vertex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809F6-E83F-4829-A11B-07C2D6B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D7CCA-049B-48B3-B9F3-9AB871D7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4FB-FC4E-4174-B7CB-E6365866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29A82-A418-4413-A49D-25EF1FC1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04216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vertex[]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380EE-F448-40DB-B12F-36BC4849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110" y="2247900"/>
            <a:ext cx="204216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 Buffer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HOST_VISIBLE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6B3F1-293F-48A5-B402-9438FB38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47900"/>
            <a:ext cx="204216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vkCmdCopyBuffer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356D1-247A-4E6C-8A24-A5555D7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730" y="2247900"/>
            <a:ext cx="204216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Vertex Buffer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DEVICE_LOCAL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58984-BA4F-4E93-94F3-33A5A4B7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247900"/>
            <a:ext cx="204216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Vertex Attribute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37460" y="2705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27270" y="2705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7080" y="2705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06890" y="27051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8287B-02E7-496B-A7FC-BDF338FB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memcpy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80BE6-0940-4AA8-8E6D-B7351BE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record copy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8496E-4AC1-4D86-B85A-38362FD6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Transfer 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C621E-84DA-4685-B979-EF4BDAB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Barrier 后读取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59C82-A023-4407-B0EA-DC6AC74A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0058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 usage 包含 TRANSFER_SRC，目标 Buffer 包含 TRANSFER_DST 与 VERTEX_BUFFER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非 coherent memory 在提交前 flush，Submit 完成前不能覆盖正在使用的 staging 区域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同一 Queue 内用 Copy-to-Vertex 依赖，跨 Queue 还要处理 Semaphore 与 ownership</a:t>
            </a:r>
          </a:p>
        </p:txBody>
      </p:sp>
    </p:spTree>
    <p:extLst>
      <p:ext uri="{BB962C8B-B14F-4D97-AF65-F5344CB8AC3E}">
        <p14:creationId xmlns:p14="http://schemas.microsoft.com/office/powerpoint/2010/main" val="17550972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CB876-5680-49AD-B76C-CE34DC6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6F357-2AD5-48FF-9AA6-B3344626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纹理上传与 Image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F4FF4-4C03-430C-8FE7-C2A6E25C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Image 比 Buffer 多一个 layout 状态维度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E42A7-8904-43A2-8054-C603B7CD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81E4B-4B9A-4062-B808-1858FE2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FEA76-0C1B-46E2-9EC3-FD4BEC9A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7012E-E2F7-495F-A2DD-7CBFEE38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解码像素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D2744-7A18-4E75-BB4F-5552FDB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9151-158E-4BBA-96F3-75D8FB5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Image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UNDEFINED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AB373-5CF6-456A-8924-AEAE6A2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955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TRANSFER_DST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OPTIMAL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D0A4F-DEF0-4EE4-8195-19222F05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SHADER_READ_ONLY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OPTIMAL</a:t>
            </a:r>
          </a:p>
        </p:txBody>
      </p: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33650" y="2552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9650" y="2552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05650" y="2552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91650" y="25527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9F909-F35B-4F4F-863D-CF98BC6F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Layout transition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7907C-83F6-47BB-823F-B36286E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Copy Buffer to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D4154-7EA2-47DD-BD28-CB2DB1FA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672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98306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Transfer Write → Fragment Shader Sampled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5514C-B5B3-4ACB-9A1A-A3DA7EA9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最后创建 ImageView 与 Sampler，并写入 Descriptor Set</a:t>
            </a:r>
          </a:p>
        </p:txBody>
      </p:sp>
    </p:spTree>
    <p:extLst>
      <p:ext uri="{BB962C8B-B14F-4D97-AF65-F5344CB8AC3E}">
        <p14:creationId xmlns:p14="http://schemas.microsoft.com/office/powerpoint/2010/main" val="12785221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63DD9-3CAE-4CC4-BD05-98EBE424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3FE5F-86EF-4C21-87B4-71AAE29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Map、Flush 与提交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1B4FB-426D-4E88-AD56-F1AC52E6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三个动作解决三个不同问题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B4CD4-4B59-4938-95D7-F1709E37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AA621-9654-4870-A850-3251A01D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42352-68CC-43B2-AFFD-FDB8394C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16996-EDFE-4E1D-81F3-F5BD2314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2537D-B069-465E-8618-022EA9CB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99DFC-6D3F-4F1C-A040-6AE6F106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获得 CPU 指针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89F82-151E-4995-A99B-2C36FF89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仅适用于 HOST_VISIBLE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12973-6028-4B04-86D4-D034C3B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764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Flush / Invalidate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B3823-310C-4D3A-B0DE-7DE98F1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24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4E716-F59C-4A0E-BF56-8078770B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60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维护 Host Cache 可见性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500CB-6F26-4783-8103-A2754FB5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957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非 HOST_COHERENT 需要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2C99A-5ED7-4401-902E-0AE7786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Submit / Barrier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3BACF-D6B2-4213-838D-A1766D79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45479-4C7B-48E7-B900-523195F0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建立 Device 执行与内存依赖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E3FBD-DA8A-41E1-953E-85873900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决定 GPU 何时安全访问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FA831-8E4D-4B5C-B25A-7B4F1ED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HOST_COHERENT 简化 cache 操作，不替代 GPU 同步</a:t>
            </a:r>
          </a:p>
        </p:txBody>
      </p:sp>
    </p:spTree>
    <p:extLst>
      <p:ext uri="{BB962C8B-B14F-4D97-AF65-F5344CB8AC3E}">
        <p14:creationId xmlns:p14="http://schemas.microsoft.com/office/powerpoint/2010/main" val="7975029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02B457-5BB5-41B8-B4DD-847EBDC7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B82F1-2DDB-4BE6-A130-3D1881D3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静态资源与动态资源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C4DC9-021D-44CA-BB46-4C3A86B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更新频率决定上传与内存策略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FB1A7-A88D-4669-979F-405D39DB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19A9C-5C6C-44A3-BF5F-20E1EEF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第二部分｜CPU 与内存上传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38F47-8564-4FB3-9FC1-1A3246B5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D4194-AE0C-469B-93D0-B5139155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352F1-B3A1-443F-BEE1-37167C0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上传方式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DCEE9-DE03-44C2-8F99-A3DC2688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AB785-32BF-4CB9-8BA8-077204F6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静态 Vertex /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F10BD-3915-41D5-9BE9-FFBCF328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一次 staging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4CB04-FC77-4442-BF0F-04F1A335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81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DEVICE_LOCAL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C7890-E99A-4803-A896-7A4DB563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0475D-2187-42F7-BAB3-803A8D03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静态 Texture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89B69-B747-4335-8970-B747B364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622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 + layout 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75444-ABA9-490F-8181-D4BC0116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Optimal tiled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EC6C3-66B2-46EA-8296-55C8258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87D569-776D-457C-876C-F5B6A36D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每帧 Uniform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737E6-34D6-4706-B1FC-298DD14F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43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持久映射 + per-frame offset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498B6-0DAA-44B9-8DF4-2FB43F8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Upload 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2C614-4996-4DBF-B0AC-AD023638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B4687-F696-4AF3-A967-76327D1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高频大数据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4F660-09A7-413C-939E-D5000315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批量 Copy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CB4DE-A9A7-4DD9-8442-E5E8DFAE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Staging 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E35CE-33B2-4FDA-B6C5-6E1E4125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496990-4A6C-49F6-90DB-2C531EE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GPU Readback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C2E3F-51EF-458F-962B-B955D125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054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Fence 后 invalidate/read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3E4BC-C6E6-4358-8979-F2A615A0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HOST_CACHED 优先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352695-F4B4-43F7-B137-01F700B5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710961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3DBC4-45DB-4EA9-ACF1-2AAAB362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9C541-986B-4F13-B951-33DA6B3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Vulkan 对象依赖图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11614-A07A-4B3A-B128-D59DED7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多个对象在 Draw 时汇合，不是层层包含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986BD-897D-48A3-9F00-8D425F2B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A531D-B65C-462C-AB28-CB20CBE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1015F-C587-4280-825C-E0F7987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8DF3D-1DD4-4A19-981E-07BE823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DescriptorSetLayout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5E676-849A-40E6-8A19-301AD79D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Descriptor 资源</a:t>
            </a:r>
          </a:p>
          <a:p xmlns:a="http://schemas.openxmlformats.org/drawingml/2006/main">
            <a:pPr algn="ctr">
              <a:defRPr sz="14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Buffer / ImageView / Sampler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924FD-BF94-45A2-AB38-0E0D1395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952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DescriptorPool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924D0-5D6E-4BE6-B811-30081E0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2571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DescriptorSet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67100" y="3352800"/>
            <a:ext cx="10477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67100" y="2076450"/>
            <a:ext cx="104775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67100" y="3400425"/>
            <a:ext cx="104775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DD2C4-0816-4511-A67B-AB38C85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2571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PipelineLayout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67100" y="2076450"/>
            <a:ext cx="10477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A1B41-2A82-4F58-BC96-E70939A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Graphics Pipeline</a:t>
            </a:r>
          </a:p>
        </p:txBody>
      </p: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86600" y="21240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DD9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8C0A8-06B5-4022-BDE0-AB78AA4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143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Command Buffer</a:t>
            </a:r>
          </a:p>
        </p:txBody>
      </p:sp>
      <p:cxnSp>
        <p:nvCxnSpPr>
          <p:cNvPr id="43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648825" y="2533650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DD9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086600" y="3400425"/>
            <a:ext cx="99060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52388-C178-4765-ABF0-DE37A1F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5295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/ Index / Attachment</a:t>
            </a:r>
          </a:p>
          <a:p xmlns:a="http://schemas.openxmlformats.org/drawingml/2006/main">
            <a:pPr algn="ctr">
              <a:def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直接绑定</a:t>
            </a:r>
          </a:p>
        </p:txBody>
      </p:sp>
      <p:cxnSp>
        <p:nvCxnSpPr>
          <p:cNvPr id="46" name=""/>
          <p:cNvCxnSpPr>
            <a:stCxn xmlns:a="http://schemas.openxmlformats.org/drawingml/2006/main" id="21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086600" y="3962400"/>
            <a:ext cx="9906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01870-4A9B-43FC-9832-C2602C21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3143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Queue Submit</a:t>
            </a:r>
          </a:p>
        </p:txBody>
      </p:sp>
      <p:cxnSp>
        <p:nvCxnSpPr>
          <p:cNvPr id="48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648825" y="4419600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195806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0921B-2F68-4943-B91F-B6845FFA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DA72A-18FB-46EB-A17D-FC9BE159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Descriptor 的四个对象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2A95B-6487-4C32-BF84-5429C0CB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接口契约、分配容量、实际绑定、Pipeline 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BAED2-5944-474B-82B6-90DBCE45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F464F-B7F5-4FBA-B6FC-85EEE1AF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5C2BE-8145-4CDA-93B6-E3FC7000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143D8-6C07-4917-954E-4F065B2E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0C190-381D-4B1C-8839-8B55980F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811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DescriptorSetLayout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8EE6C-8BD6-449D-88FB-E59A9AF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定义 binding、type、count、stage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C4EAD-B396-498C-B702-33B48A43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7238A-EB51-4B69-B082-D98E8A6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B31E6-3F23-4AC9-A313-071D10E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051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DescriptorPool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2D95A-B0A4-4997-BC86-EEDEB21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051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提供 Set 数量与各类 Descriptor 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4A367-B3FC-4D0F-92F7-00E20815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EB6B7-F9A1-4306-9300-B4209578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7B7B0-5D26-4B1B-99A2-8BC9DC5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DescriptorSet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BB357-7F3C-4232-B8D6-523106B3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保存 Buffer、ImageView、Sampler 等绑定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EA2F6-28DB-4FDF-9FB2-6F0987B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1AF93-8916-4883-8503-65A58769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4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A88A9-4630-49B8-9550-59591BCF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530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PipelineLayout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8F6F5-AA23-4522-A0B5-EA5062FC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530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组合 Set Layout 与 Push Constant Range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895ECA-4161-4423-8373-BA4DCE3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05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Descriptor 保存引用，不复制资源数据</a:t>
            </a:r>
          </a:p>
        </p:txBody>
      </p:sp>
    </p:spTree>
    <p:extLst>
      <p:ext uri="{BB962C8B-B14F-4D97-AF65-F5344CB8AC3E}">
        <p14:creationId xmlns:p14="http://schemas.microsoft.com/office/powerpoint/2010/main" val="4789700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91469-DCDB-4D04-B05F-9B74361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96FA3-7DD0-4A77-BCD3-734147F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Pipeline 的组成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4ACE0-3243-42B3-A304-785E9DD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Shader、固定功能状态与资源接口在创建时组合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BB394-8B9F-47DC-B94B-681BD577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AD0CA-B867-421A-A79B-A2E2DDE0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BBA4C-0E84-4184-A528-DDE04791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B26D9-5359-4374-BA81-D1A3018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31242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VkGraphicsPipeline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C6554-4FD5-4AB7-8221-E7C2B0AA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Shader Stages</a:t>
            </a:r>
          </a:p>
          <a:p xmlns:a="http://schemas.openxmlformats.org/drawingml/2006/main">
            <a:pPr algn="ctr">
              <a:def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entry point</a:t>
            </a:r>
          </a:p>
        </p:txBody>
      </p: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81400" y="2114550"/>
            <a:ext cx="95250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83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26605-F1C9-4841-91B7-D0C1CDE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Input</a:t>
            </a:r>
          </a:p>
          <a:p xmlns:a="http://schemas.openxmlformats.org/drawingml/2006/main">
            <a:pPr algn="ctr">
              <a:def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Input Assembly</a:t>
            </a:r>
          </a:p>
        </p:txBody>
      </p:sp>
      <p:cxnSp>
        <p:nvCxnSpPr>
          <p:cNvPr id="27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581400" y="3238500"/>
            <a:ext cx="95250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293D0-4D5B-47B9-B9A0-8AD0894F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Raster / MSAA</a:t>
            </a:r>
          </a:p>
          <a:p xmlns:a="http://schemas.openxmlformats.org/drawingml/2006/main">
            <a:pPr algn="ctr">
              <a:def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Depth / Blend</a:t>
            </a:r>
          </a:p>
        </p:txBody>
      </p:sp>
      <p:cxnSp>
        <p:nvCxnSpPr>
          <p:cNvPr id="29" name=""/>
          <p:cNvCxnSpPr>
            <a:stCxn xmlns:a="http://schemas.openxmlformats.org/drawingml/2006/main" id="12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658100" y="2114550"/>
            <a:ext cx="93345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4CA5C-9F36-40A4-AC01-5B63041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PipelineLayout</a:t>
            </a:r>
          </a:p>
          <a:p xmlns:a="http://schemas.openxmlformats.org/drawingml/2006/main">
            <a:pPr algn="ctr">
              <a:def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资源接口</a:t>
            </a:r>
          </a:p>
        </p:txBody>
      </p:sp>
      <p:cxnSp>
        <p:nvCxnSpPr>
          <p:cNvPr id="31" name=""/>
          <p:cNvCxnSpPr>
            <a:stCxn xmlns:a="http://schemas.openxmlformats.org/drawingml/2006/main" id="14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658100" y="3238500"/>
            <a:ext cx="93345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AB910-4630-4852-95A7-05819AF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动态状态只在 Pipeline 中声明，具体值由 vkCmdSet* 提供</a:t>
            </a:r>
          </a:p>
        </p:txBody>
      </p:sp>
    </p:spTree>
    <p:extLst>
      <p:ext uri="{BB962C8B-B14F-4D97-AF65-F5344CB8AC3E}">
        <p14:creationId xmlns:p14="http://schemas.microsoft.com/office/powerpoint/2010/main" val="6269854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6C6B7-CB5D-4D16-A8A0-FCB23A30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AB63-C5CE-4B0A-ADA0-79361DB3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Command Buffer 的记录状态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57DD3-9641-4971-BE24-96D2464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Pending 状态决定何时可以 reset、free 和复用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E08B4-E92B-4A04-AA78-9E7B9D05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E3BB2-D7A0-42AC-A615-CFA35FE9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C6036-C6E2-4BA6-97D2-273D9493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164DC-EFBD-4D3B-9E65-DF6664D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F7E99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Initial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6BCBA-825D-4109-AAC1-ED48ED7C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Recording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B903D-32E8-4C03-89EB-D97A7B6C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Executable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98D8C-6500-43FD-8730-40F7A73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78DFB-A5CA-4A63-BC19-CB2334A8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905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Executable</a:t>
            </a:r>
          </a:p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或 Invalid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90800" y="2914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9650" y="2914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48500" y="2914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77350" y="29146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C5610-B401-4125-8C4F-59999CC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00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Begin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01B98-0F11-4B16-A3A8-5023684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98C3AC-031E-4C24-A374-EC44682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Submit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01E07-1C7B-4141-A16B-D75B81D9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GPU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B3148-BB9B-4B57-89BB-F8F62ACA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25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Pending 期间不能改写 Command Buffer，也不能销毁它引用的在用资源</a:t>
            </a:r>
          </a:p>
        </p:txBody>
      </p:sp>
    </p:spTree>
    <p:extLst>
      <p:ext uri="{BB962C8B-B14F-4D97-AF65-F5344CB8AC3E}">
        <p14:creationId xmlns:p14="http://schemas.microsoft.com/office/powerpoint/2010/main" val="20134959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270EE-B37A-4C93-B088-3F2040FF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7B9B-214C-45AE-99BD-E80F4FD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一次 Draw 的命令现场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945AA-498F-4E1D-A2C9-48D09A62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Draw 消费此前已经记录的 Pipeline 与资源状态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7AB61-2ABB-4AAB-96BE-3B387C06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1717E-596F-4C36-9D53-8D9495C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E0D95-59D4-4A26-A9CA-A99C7472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A7125-AA50-46F0-AB1B-132F0EAF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31435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vkCmdBeginRendering(cmd, &amp;renderingInfo);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vkCmdBindPipeline(cmd, VK_PIPELINE_BIND_POINT_GRAPHICS,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                  pipeline);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vkCmdSetViewport(cmd, 0, 1, &amp;viewport);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vkCmdSetScissor(cmd, 0, 1, &amp;scissor);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vkCmdBindDescriptorSets(cmd, VK_PIPELINE_BIND_POINT_GRAPHICS,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                        pipelineLayout, ...);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vkCmdBindVertexBuffers(cmd, 0, 1, &amp;vb, offsets);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vkCmdBindIndexBuffer(cmd, ib, 0, VK_INDEX_TYPE_UINT32);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vkCmdDrawIndexed(cmd, indexCount, 1, 0, 0, 0);</a:t>
            </a:r>
          </a:p>
          <a:p xmlns:a="http://schemas.openxmlformats.org/drawingml/2006/main">
            <a:pPr algn="l">
              <a:def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vkCmdEndRendering(cmd);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4BF3B-E9CA-4D6E-A345-8D9EE4D1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58BEA-C710-49DB-A9BE-A5ED8C5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Shader + 固定功能状态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D1DEF-A57B-4CE3-92CE-242F4AE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DESCRIPTOR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BCA60-FEA3-43BB-9CE4-7B720052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Uniform、Texture、Sampler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A6266-A30C-44D0-929B-B21CF970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VERTEX /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52E21-8DB8-473B-BC26-32B862F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几何数据专用绑定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F07DE-73C6-48E8-AC19-12C9D087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ATTACHMENT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7B089-7202-4ABE-A53D-082942BE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当前渲染输出目标</a:t>
            </a:r>
          </a:p>
        </p:txBody>
      </p:sp>
    </p:spTree>
    <p:extLst>
      <p:ext uri="{BB962C8B-B14F-4D97-AF65-F5344CB8AC3E}">
        <p14:creationId xmlns:p14="http://schemas.microsoft.com/office/powerpoint/2010/main" val="21031322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7CF39-B202-4C82-A97D-96648FE9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CFB9D-5102-4E71-A0A7-9E18B166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Queue Submit 之后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ECF8A-446C-4C95-9868-BE4DFD95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Vulkan 规定可观察行为，不规定厂商内部翻译时机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CD7F0-C03C-4087-8801-126D3795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EFD2-09C8-48CE-AC2C-97C2DCC6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1F9D1-5616-4889-AA77-6B10FCE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1F37A-0413-43AF-9B91-C28E270C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AE83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Pipeline 创建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编译与链接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31AEA-7B7F-4699-8880-03402139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Command Record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驱动中间表示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C0995-106D-469C-8714-F654B45D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98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Queue Submit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组织批次与地址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03BC1-419E-4F1A-B239-A085AA4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Command Processor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硬件命令流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9A75F-BAD1-4552-9B13-314C5D62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2019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Graphics Engine</a:t>
            </a:r>
          </a:p>
          <a:p xmlns:a="http://schemas.openxmlformats.org/drawingml/2006/main">
            <a:pPr algn="ctr">
              <a:def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并行执行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33650" y="2667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9650" y="2667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05650" y="2667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91650" y="2667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99F38-0DE9-4940-A7F8-2AF7B5F7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05250"/>
            <a:ext cx="7543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实现可以在不同阶段完成翻译、修补和缓存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AE819-5E3C-4726-AEA9-25593770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应用只能依赖对象生命周期、提交顺序和同步语义</a:t>
            </a:r>
          </a:p>
        </p:txBody>
      </p:sp>
    </p:spTree>
    <p:extLst>
      <p:ext uri="{BB962C8B-B14F-4D97-AF65-F5344CB8AC3E}">
        <p14:creationId xmlns:p14="http://schemas.microsoft.com/office/powerpoint/2010/main" val="20195182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D8AB2-C98D-419A-9DC3-ECAF419F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C458A-31DC-4916-94F8-0EFEBEE9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Swapchain 与 Present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0C4D4-99EA-4CF6-8BAF-8796725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两个 Semaphore 连接获取、渲染与显示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5DC3F-A5E6-419A-ABB2-75404425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C8CD9-8B6C-43C9-A5CB-AD8EED1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第三部分｜对象与命令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9E041-6195-4CAE-B3E3-55BFB586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4BAE2-6156-4593-B043-DE6B95D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AcquireNextImage</a:t>
            </a:r>
          </a:p>
          <a:p xmlns:a="http://schemas.openxmlformats.org/drawingml/2006/main">
            <a:pPr algn="ctr">
              <a:def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获得 image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2969B-6E08-4123-922E-C05E340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81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Graphics Submit</a:t>
            </a:r>
          </a:p>
          <a:p xmlns:a="http://schemas.openxmlformats.org/drawingml/2006/main">
            <a:pPr algn="ctr">
              <a:def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写入 Swapchain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1F4E6-7B3D-41EC-B5D8-DCF1466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QueuePresent</a:t>
            </a:r>
          </a:p>
          <a:p xmlns:a="http://schemas.openxmlformats.org/drawingml/2006/main">
            <a:pPr algn="ctr">
              <a:def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Presentation Engine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24200" y="2809875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86650" y="2809875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D4C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5B957-D38B-42A4-BBF6-8B68E99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imageAvailable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8F728-CA34-4956-A978-791F565D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renderFinished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D37CC-E712-4C87-9B2B-1E103C9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05300"/>
            <a:ext cx="278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inFlight Fence</a:t>
            </a:r>
          </a:p>
          <a:p xmlns:a="http://schemas.openxmlformats.org/drawingml/2006/main">
            <a:pPr algn="ctr">
              <a:def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GPU 完成后通知 CPU</a:t>
            </a:r>
          </a:p>
        </p:txBody>
      </p: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32575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B45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62619-E6A8-4A3D-862C-88ADEADB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Swapchain Image 的 backing memory 由 WSI 实现管理，应用不使用 VMA 绑定</a:t>
            </a:r>
          </a:p>
        </p:txBody>
      </p:sp>
    </p:spTree>
    <p:extLst>
      <p:ext uri="{BB962C8B-B14F-4D97-AF65-F5344CB8AC3E}">
        <p14:creationId xmlns:p14="http://schemas.microsoft.com/office/powerpoint/2010/main" val="65400890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FFE8D-31B9-49EA-AF2D-A6B6A97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A0C21-65E3-4762-9D8F-91264DCB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同步问题的三个判断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8BBC0-B987-422A-84A9-D878151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先识别依赖，再选择同步工具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11C18-F680-48FE-859B-D74DD3ED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4B594-A58E-4272-930C-B3757D32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第四部分｜同步与多帧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306F2-EDAA-40B2-9B4D-C70A583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392FA-FFB3-4789-9A39-FE66F1A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E7947-A884-4F6E-857F-9EECE4B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573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谁先执行，谁后执行？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A3845-BD48-4C69-A77F-30C6837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Execution Dependency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2393A-87C4-4E3D-8565-D42EF5F3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098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4E052-BF85-4A7D-B526-705DCA5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7FED2-639C-4924-8DC1-FFCD9DB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099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前一个写入何时可见？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D6B93-A365-451D-A5E7-3A5BBFA8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Memory Dependency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A32E9-0228-4C2D-9842-98F99611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62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3C1013-F292-4BC5-8E2F-8245BA8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76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FD45F-FAE8-4345-8817-7AB502CB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624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谁拥有资源，Image 是什么 Layout？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04FD5-1E2E-462E-B635-FCCC5EF5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Ownership + Layout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2393A-FA7F-4763-9951-79D3B0B0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531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常见 Hazard：RAW、WAR、WAW</a:t>
            </a:r>
          </a:p>
        </p:txBody>
      </p:sp>
    </p:spTree>
    <p:extLst>
      <p:ext uri="{BB962C8B-B14F-4D97-AF65-F5344CB8AC3E}">
        <p14:creationId xmlns:p14="http://schemas.microsoft.com/office/powerpoint/2010/main" val="9246635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E3FA5-1C0D-4C38-8FB6-88981EF7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30217-B815-4534-A7C5-DBE3E51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Barrier、Semaphore 与 Fence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6354B-8204-43AD-94B8-D727BC6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三类工具连接不同的执行边界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5E43C-441C-4757-928B-C6F3B53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FD9C5-67AC-4CB8-AC92-CBB4134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第四部分｜同步与多帧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93A2C-1318-40BA-93D6-7226C009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46DBA-3303-457B-BE11-5F81F79E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Pipeline Barrier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6F0A9-C9B0-4DC6-ADA4-C4124A1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Command Buffer 内</a:t>
            </a:r>
          </a:p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同 Queue 工作之间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9F7D-A69A-4336-A337-A401EF2B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957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F1FBC-D150-42A9-903C-4572591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Copy 后读取</a:t>
            </a:r>
          </a:p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Shader 写后读取</a:t>
            </a:r>
          </a:p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Image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45414-FC0C-4961-8C2A-59B66A12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Semaphore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5517C-D065-4CDC-B96E-2A4D833B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Queue Operation 之间</a:t>
            </a:r>
          </a:p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也连接 WSI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2FDBA-94C2-431B-9537-3639527A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957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DF0A5-7841-476E-92FE-822A9DAD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Transfer 到 Graphics</a:t>
            </a:r>
          </a:p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Acquire 与 Present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43A68-478C-4D1A-BA40-450525C6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Fence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5307F-B833-4E8C-819A-926E7189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Queue 到 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88343-87BF-445B-92EE-D267FF00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1600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72149-71AB-478F-8D4E-B2706E0C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等待帧完成</a:t>
            </a:r>
          </a:p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回收 CPU 资源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C1BDD-ABB4-40F6-8CA7-B53A506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VMA 不推导或创建这些同步关系</a:t>
            </a:r>
          </a:p>
        </p:txBody>
      </p:sp>
    </p:spTree>
    <p:extLst>
      <p:ext uri="{BB962C8B-B14F-4D97-AF65-F5344CB8AC3E}">
        <p14:creationId xmlns:p14="http://schemas.microsoft.com/office/powerpoint/2010/main" val="8002996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E6245-6B6F-4B42-B40A-293B64F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B0BE-417A-4289-99CE-658B0F3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Frames In 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F97CE-BB89-47A9-A69B-C16A8679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每帧上下文避免 CPU 与 GPU 被单一资源串行化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23181-4E43-41ED-A770-EF45A59C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934E4-922F-4FB0-AE3A-859A8C0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第四部分｜同步与多帧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98E2C-F8A4-4C8C-AF8F-225906F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EEFD6-1057-4AFB-A4DF-40DA0E4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FrameContext 0</a:t>
            </a:r>
          </a:p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CommandBuffer</a:t>
            </a:r>
          </a:p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Fence</a:t>
            </a:r>
          </a:p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Semaphores</a:t>
            </a:r>
          </a:p>
          <a:p xmlns:a="http://schemas.openxmlformats.org/drawingml/2006/main">
            <a:pPr algn="ctr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Uniform offset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1CF1A-AA0B-42F8-8282-FD0DE59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FrameContext 1</a:t>
            </a:r>
          </a:p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CommandBuffer</a:t>
            </a:r>
          </a:p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Fence</a:t>
            </a:r>
          </a:p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Semaphores</a:t>
            </a:r>
          </a:p>
          <a:p xmlns:a="http://schemas.openxmlformats.org/drawingml/2006/main">
            <a:pPr algn="ctr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Uniform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C7B9A-3A7C-429A-86DB-954A2A2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705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准备下一帧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A6E4A-E139-4F41-AB34-F21E413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95700"/>
            <a:ext cx="27051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  <a:p xmlns:a="http://schemas.openxmlformats.org/drawingml/2006/main">
            <a:pPr algn="ctr">
              <a:def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执行当前帧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05300" y="3181350"/>
            <a:ext cx="3581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916F4-B7AD-479E-99D3-4CCADE4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57800"/>
            <a:ext cx="636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复用前等待该 FrameContext 的完成点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C0721-3D1F-4F6A-BDF0-46B3502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29300"/>
            <a:ext cx="701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Swapchain Image 数量与 Frames In Flight 数量是两个概念</a:t>
            </a:r>
          </a:p>
        </p:txBody>
      </p:sp>
    </p:spTree>
    <p:extLst>
      <p:ext uri="{BB962C8B-B14F-4D97-AF65-F5344CB8AC3E}">
        <p14:creationId xmlns:p14="http://schemas.microsoft.com/office/powerpoint/2010/main" val="9899203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3F96C0-6CB1-47DF-AC1F-146308AF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1A2A5-B6FB-40AF-A897-216D7371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四类常见对齐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FEF9-A162-46BB-9629-6E45538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对齐约束来自资源绑定、Descriptor、Cache 与资源粒度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F2177-2385-4A16-9971-B3DDFA6A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C9FA5-4153-4E55-9B06-B68A9468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第五部分｜对齐与子分配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0AFD2-3377-4288-B1AC-E067407A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9072C-6DC7-4073-8A58-8D47C57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Resource binding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0CA79-48A1-4015-8ECD-C804DAFA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VkMemoryRequirements::alignment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2EB09-040C-42BE-B57F-84EFB62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子分配 offset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7E4A6-8D64-405D-8201-E901AD34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D67A0-54F8-428C-919E-6C2F186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Dynamic 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3A6A3-D4AB-4185-AEDA-88EAAA71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minUniform / StorageBufferOffsetAlignment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50A19-D83A-4265-939F-21FE599E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432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动态 offset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4C3F4-6BBB-4493-A33E-7454234E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F644C-205F-4D77-B6E1-7468394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Non-coherent cache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60297-B336-4D04-A89F-6F4C0C6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671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nonCoherentAtomSize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5442E-D780-447D-AFFA-CA7303E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flush / invalidate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576F7-CAEA-41C5-A334-B9EBAA81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6EC08-486C-4B54-8BFA-2D3AF65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Buffer 与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1E5B6-485F-4367-AE45-4D156F93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911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bufferImageGranularity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8287D-65D3-401B-AFCF-C28B1F0E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911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相邻资源页粒度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D3D8A-AFF0-4FC9-BD12-F43B70E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953125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VMA 处理 allocation 对齐。Shader 数据结构布局仍由应用保证。</a:t>
            </a:r>
          </a:p>
        </p:txBody>
      </p:sp>
    </p:spTree>
    <p:extLst>
      <p:ext uri="{BB962C8B-B14F-4D97-AF65-F5344CB8AC3E}">
        <p14:creationId xmlns:p14="http://schemas.microsoft.com/office/powerpoint/2010/main" val="6686193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A26C9-F591-4A3F-AAA0-F9D488D2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3D91F-00EA-4486-BBDD-F34BF2E7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Allocation Count 与 Suballocation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791EA-9D90-4BBB-894F-FD48829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少量 VkDeviceMemory Block 承载大量资源区间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9C9D1-9547-4683-8E44-E254FE49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355BC-41CD-4E0E-A358-E00F9E88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第五部分｜对齐与子分配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EBDAF-823A-4A47-A5D3-A02C7089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722D9-A1C6-476D-8085-4B306872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每个资源单独 Allocate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0C5D8-F1E9-4F3F-A693-B377078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81050" cy="8763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7609-BE7A-4956-A5FD-CDA6E5D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781050" cy="8763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668FC-5174-4149-AA37-B5D878FB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86000"/>
            <a:ext cx="781050" cy="8763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5F9CD-E2CE-48E7-83D5-565E4C36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781050" cy="8763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53FE6-9FD7-4591-8C92-FF1AA04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781050" cy="8763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579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01394-361C-4DDD-B195-90BB796D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重量级调用增多</a:t>
            </a:r>
          </a:p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受 maxMemoryAllocationCount 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D6C24-3DB3-40D0-B691-FF8C1E82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大 Block 内做子分配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5F8A7-2B4A-4F13-9AE1-C6787296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B5084-1FF1-4931-9539-5BF8226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7FF"/>
          </a:solidFill>
          <a:ln xmlns:a="http://schemas.openxmlformats.org/drawingml/2006/main" w="9525">
            <a:solidFill>
              <a:srgbClr val="09111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EB4F3-186A-4234-811B-0803F748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8FB54-2DF9-48DE-92C4-FFDF5EB5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114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83FF"/>
          </a:solidFill>
          <a:ln xmlns:a="http://schemas.openxmlformats.org/drawingml/2006/main" w="9525">
            <a:solidFill>
              <a:srgbClr val="0911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1754D-FA7B-4ECF-B634-9B2B61F3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9CFE3-FA38-4491-99F9-29AD9AA0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66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9525">
            <a:solidFill>
              <a:srgbClr val="09111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67160-CFAF-49A2-A81A-3830A0C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FA67E-B518-424C-9A6B-B076053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DD94"/>
          </a:solidFill>
          <a:ln xmlns:a="http://schemas.openxmlformats.org/drawingml/2006/main" w="9525">
            <a:solidFill>
              <a:srgbClr val="09111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CA229-BDB9-4D97-BE18-9EE60C45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111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CDEFE-28FE-4F69-A9D2-F32E8240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62200"/>
            <a:ext cx="590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3143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C635C-69F3-463D-9FE3-6860566F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336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F0ED8-7346-4B3C-862D-375CADE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一个 Block + 多个 offset/size</a:t>
            </a:r>
          </a:p>
          <a:p xmlns:a="http://schemas.openxmlformats.org/drawingml/2006/main">
            <a:pPr algn="ctr">
              <a:def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统一管理对齐、空洞与碎片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779D6-B691-45BC-8EF9-0BBD6A73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95900"/>
            <a:ext cx="731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Suballocation 是 Vulkan 内存管理的主流工程模型</a:t>
            </a:r>
          </a:p>
        </p:txBody>
      </p:sp>
    </p:spTree>
    <p:extLst>
      <p:ext uri="{BB962C8B-B14F-4D97-AF65-F5344CB8AC3E}">
        <p14:creationId xmlns:p14="http://schemas.microsoft.com/office/powerpoint/2010/main" val="16457855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2D1F1-A40D-4928-99DD-D5BC5DD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05CFA-FE7E-43B7-9476-7610E86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 的位置与对象模型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B992A-85E2-46CC-B188-69160328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VMA 位于 Resource 与 VkDeviceMemory 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7DC86-3B29-44EA-80FC-30A45F6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0E5E2-77BC-4FFE-AFBF-68953D4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第六部分｜VMA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10115-E398-4CF1-8EBB-F7145B6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F6E4B-4694-4F75-A8C5-D909DCDE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23860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Renderer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5CBD4-409D-4F97-9043-26722014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1828800"/>
            <a:ext cx="23860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VkBuffer</a:t>
            </a:r>
          </a:p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F84A6-DEA0-4BB6-A52C-FDC6F7C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28800"/>
            <a:ext cx="23860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C69AB-90CC-4E4F-98B9-B3B38232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1828800"/>
            <a:ext cx="23860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42D4C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VkDeviceMemory</a:t>
            </a:r>
          </a:p>
          <a:p xmlns:a="http://schemas.openxmlformats.org/drawingml/2006/main">
            <a:pPr algn="ctr">
              <a:def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Block</a:t>
            </a:r>
          </a:p>
        </p:txBody>
      </p: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09913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95976" y="2247900"/>
            <a:ext cx="4000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82038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35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2ACE9-5B2B-4D35-B4DE-9D3A1944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528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VmaAllocation</a:t>
            </a:r>
          </a:p>
          <a:p xmlns:a="http://schemas.openxmlformats.org/drawingml/2006/main">
            <a:pPr algn="ctr">
              <a:def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Block 中的 offset +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5E17B-497C-43AE-8C21-376424E6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6687FF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VmaAllocator</a:t>
            </a:r>
          </a:p>
          <a:p xmlns:a="http://schemas.openxmlformats.org/drawingml/2006/main">
            <a:pPr algn="ctr">
              <a:def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每个 VkDevice 通常一个</a:t>
            </a:r>
          </a:p>
        </p:txBody>
      </p:sp>
      <p:cxnSp>
        <p:nvCxnSpPr>
          <p:cNvPr id="35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390900" y="2667000"/>
            <a:ext cx="4098131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DD9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489032" y="2667000"/>
            <a:ext cx="1312069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8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A2D38-136B-4541-A045-277B640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95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可选：VmaPool、VmaAllocationInfo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2D17D-09BC-475B-BAAB-C8B9CC32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29300"/>
            <a:ext cx="541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VmaAllocation 通常不等于 VkDeviceMemory</a:t>
            </a:r>
          </a:p>
        </p:txBody>
      </p:sp>
    </p:spTree>
    <p:extLst>
      <p:ext uri="{BB962C8B-B14F-4D97-AF65-F5344CB8AC3E}">
        <p14:creationId xmlns:p14="http://schemas.microsoft.com/office/powerpoint/2010/main" val="16801546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4931F-E396-4498-BAC2-BA268AE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7B679-84EB-4249-81F9-0B9652AF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 分配策略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90ABF-5A7C-4048-A08B-B9CDAABF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AUTO 用途配合 Host Access Flag 表达访问模式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BDC7B-9C6B-443A-8495-B46998BB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5B665-FA2C-41AA-9CC9-9570FD16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第六部分｜VMA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E9782-205A-4A94-9BB6-7FD7569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B2E71-61A3-488A-A86F-9EBE17CA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静态 GPU 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FBAF-4D3B-4C34-B20C-8810CFD3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526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AUTO_PREFER_DEVICE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AE50C-E453-4783-96CE-E165BFD5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TRANSFER_DST + 实际用途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4C42A2-73C9-4E20-9D96-83DEDDB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B9D94-9456-41E7-B8AE-0ABF3742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Staging /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39F75-BF5C-438F-B9CD-B1F2CE0D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AUTO + SEQUENTIAL_WRITE + MAPPED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82056-7FD0-4CBA-90F3-99EEEA1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TRANSFER_SRC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A8458-DDC4-4672-BB73-C8C7212B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F18D0-7F33-468B-A857-A2D0466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Readback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3078-5AC3-4129-8874-831D170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053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7FF"/>
                </a:solidFill>
                <a:latin typeface="DejaVu Sans Mono"/>
                <a:ea typeface="DejaVu Sans Mono"/>
                <a:cs typeface="DejaVu Sans Mono"/>
              </a:rPr>
              <a:t>AUTO_PREFER_HOST + RANDOM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5FB8F-FD08-4987-948B-81240DE4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053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优先 HOST_CACHED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78FED-2DDD-4407-B8EB-3B6DF498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MAPPED 只保持映射。需要 HOST_ACCESS flag 才能保证 AUTO 选择可映射类型。</a:t>
            </a:r>
          </a:p>
        </p:txBody>
      </p:sp>
    </p:spTree>
    <p:extLst>
      <p:ext uri="{BB962C8B-B14F-4D97-AF65-F5344CB8AC3E}">
        <p14:creationId xmlns:p14="http://schemas.microsoft.com/office/powerpoint/2010/main" val="5926769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B184C-2CFA-411B-B009-D6A4931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FE559-64EC-4FB7-8B13-85B4F1BB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 版 Vertex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D4DF8-D603-4DE7-B6AB-C32EE516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VMA 简化 allocation，Copy 与同步仍由应用记录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E0B06-3A38-44A5-B160-036915B9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371CC-F5EB-4C31-A55E-CDA7039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第六部分｜VMA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99F38-2CF8-467A-9500-4D38D96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AEB99-AA70-4964-8DAE-729BAAC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6667500" cy="468630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11430">
            <a:solidFill>
              <a:srgbClr val="31435F"/>
            </a:solidFill>
            <a:prstDash val="solid"/>
          </a:ln>
        </p:spPr>
        <p:txBody>
          <a:bodyPr xmlns:a="http://schemas.openxmlformats.org/drawingml/2006/main" wrap="square" lIns="133350" tIns="1143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// staging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stagingAlloc.usage = VMA_MEMORY_USAGE_AUTO;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stagingAlloc.flags =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  VMA_ALLOCATION_CREATE_HOST_ACCESS_SEQUENTIAL_WRITE_BIT |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  VMA_ALLOCATION_CREATE_MAPPED_BIT;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vmaCreateBuffer(..., &amp;staging, &amp;stagingAllocation, &amp;info);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vmaCopyMemoryToAllocation(...);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// device local vertex buffer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vertexAlloc.usage = VMA_MEMORY_USAGE_AUTO_PREFER_DEVICE;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vmaCreateBuffer(..., &amp;vertex, &amp;vertexAllocation, nullptr);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// application-owned commands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vkCmdCopyBuffer(cmd, staging, vertex, ...);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vkCmdPipelineBarrier2(cmd, &amp;copyToVertex);</a:t>
            </a:r>
          </a:p>
          <a:p xmlns:a="http://schemas.openxmlformats.org/drawingml/2006/main">
            <a:pPr algn="l">
              <a:def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>
                <a:solidFill>
                  <a:srgbClr val="D6E4FF"/>
                </a:solidFill>
                <a:latin typeface="DejaVu Sans Mono"/>
                <a:ea typeface="DejaVu Sans Mono"/>
                <a:cs typeface="DejaVu Sans Mono"/>
              </a:rPr>
              <a:t>vkQueueSubmit2(queue, ...);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D6B03-2F4B-4265-97E2-1676C6B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2857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5DDD94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VMA 负责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3985D-89EA-4ECE-B037-4C6792BD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Memory Type 选择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Block 与 Suballocation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资源内存绑定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Map 与 Flush 便利接口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923F0-7E1C-4855-9AF0-0A56881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05300"/>
            <a:ext cx="2857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B45C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应用负责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A4E1B-571C-4425-8D32-1C54DDE3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57150" rIns="76200" bIns="5715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Copy 命令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Barrier 与 Queue Submit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完成点和资源回收</a:t>
            </a:r>
          </a:p>
        </p:txBody>
      </p:sp>
    </p:spTree>
    <p:extLst>
      <p:ext uri="{BB962C8B-B14F-4D97-AF65-F5344CB8AC3E}">
        <p14:creationId xmlns:p14="http://schemas.microsoft.com/office/powerpoint/2010/main" val="6684220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8300F-0AAD-493E-AAB2-89B15CCA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6DB3D-7485-4826-93F1-7CC5D63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 的高级能力与边界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FE210-5D1B-4A4F-A834-0DD0771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默认池优先，高级能力需要测量与应用配合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DB128-E236-41E1-B402-B8C12A78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1E4FA-BE5D-4A23-B5B9-C656A46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第六部分｜VMA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91193-2F8A-46BE-94D3-5B10C7FF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329DB-56B6-49EA-B80E-ABFE28B8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Dedicated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846DC-971E-4324-AC5F-07BE621C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00200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大资源或驱动要求时独占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26C43-AC21-4F1C-9E85-F087CDF4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CD8C8-5236-444E-85A8-ED5EB3CF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Custom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493BC-2052-4E28-9388-631AAD5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09850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固定 Block、线性或 Ring 生命周期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1C100-5710-411B-9FD3-05EC0C29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909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EC4C8-AA96-4750-B1D9-72E82D4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F9D28-40D3-478B-A99C-6194E0DB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Heap usage / budget 与统计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245D9-6F47-4668-8025-7A2028D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0055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F245A-CE70-46CC-B08B-554D498E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Defragmentation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0F3A3-5C62-4ECE-A6FD-EB90F66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29150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VMA 规划移动，应用重建、复制、等待并更新引用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B2ED7-9E76-4EC0-B396-1C26982F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62600"/>
            <a:ext cx="8686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F35"/>
          </a:solidFill>
          <a:ln xmlns:a="http://schemas.openxmlformats.org/drawingml/2006/main" w="11430">
            <a:solidFill>
              <a:srgbClr val="FF738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10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VMA 不负责</a:t>
            </a:r>
          </a:p>
          <a:p xmlns:a="http://schemas.openxmlformats.org/drawingml/2006/main">
            <a:pPr algn="ctr">
              <a:defRPr sz="14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7381"/>
                </a:solidFill>
                <a:latin typeface="Microsoft YaHei"/>
                <a:ea typeface="Microsoft YaHei"/>
                <a:cs typeface="Microsoft YaHei"/>
              </a:rPr>
              <a:t>Descriptor / Pipeline / Command / Barrier / Fence / Queue</a:t>
            </a:r>
          </a:p>
        </p:txBody>
      </p:sp>
    </p:spTree>
    <p:extLst>
      <p:ext uri="{BB962C8B-B14F-4D97-AF65-F5344CB8AC3E}">
        <p14:creationId xmlns:p14="http://schemas.microsoft.com/office/powerpoint/2010/main" val="15737903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5952D-6594-40A0-B9AC-D6A96F0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4C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C329C-53E4-4C91-9487-E105A6C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完整生命周期复盘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1BFA5-9DED-4A03-B3F9-BF7C34B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B6CF"/>
                </a:solidFill>
                <a:latin typeface="Microsoft YaHei"/>
                <a:ea typeface="Microsoft YaHei"/>
                <a:cs typeface="Microsoft YaHei"/>
              </a:rPr>
              <a:t>初始化、资源加载、每帧渲染三段式认知模型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7F875-95E0-4104-9357-A5A97C45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3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2F873-37B8-404D-9485-4574739A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总结与提问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CCD5-D081-4BE7-962A-BE75AE5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F7E99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A9F13-6FE5-4E25-AC1E-CB1A99F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687FF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E02CA-0066-4F7C-B767-5661218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479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96B63-8C74-4AAA-BEC8-646862E3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3181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Instance → Device → Queue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VMA → Swapchain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Layout → Pipeline → 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CEE46-C1F1-4AB0-A813-EB90715A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资源加载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99C37-8890-472E-8775-90E112C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479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8ECE2-7B7E-4E8B-A197-9C0D2DB5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09850"/>
            <a:ext cx="3181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文件 → CPU 内存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Staging → Device Resource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Copy → Barrier → Descriptor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D5946-64C1-4F20-B888-FD0409D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每帧渲染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1CC33-5334-465B-B757-16B4C928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479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DD9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36EAC-5F9E-4E00-94C0-519975BA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31813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Wait Fence → Acquire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Record → Submit</a:t>
            </a:r>
          </a:p>
          <a:p xmlns:a="http://schemas.openxmlformats.org/drawingml/2006/main">
            <a:pPr algn="ctr">
              <a:def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5F7FF"/>
                </a:solidFill>
                <a:latin typeface="Microsoft YaHei"/>
                <a:ea typeface="Microsoft YaHei"/>
                <a:cs typeface="Microsoft YaHei"/>
              </a:rPr>
              <a:t>Present → Recycle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AE27A-3BE7-4CE3-AE05-2B96B7E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E83FF"/>
                </a:solidFill>
                <a:latin typeface="Microsoft YaHei"/>
                <a:ea typeface="Microsoft YaHei"/>
                <a:cs typeface="Microsoft YaHei"/>
              </a:rPr>
              <a:t>Shader 提出数据需求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48F30-BB25-431E-81D2-F56552D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B45C"/>
                </a:solidFill>
                <a:latin typeface="Microsoft YaHei"/>
                <a:ea typeface="Microsoft YaHei"/>
                <a:cs typeface="Microsoft YaHei"/>
              </a:rPr>
              <a:t>CPU 准备资源与命令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15ECD-F1EE-4DAF-8678-EBAC93F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2D4CF"/>
                </a:solidFill>
                <a:latin typeface="Microsoft YaHei"/>
                <a:ea typeface="Microsoft YaHei"/>
                <a:cs typeface="Microsoft YaHei"/>
              </a:rPr>
              <a:t>同步保证正确读取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D21C1-9E96-4C26-9DDA-BDA789F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76900"/>
            <a:ext cx="598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DDD94"/>
                </a:solidFill>
                <a:latin typeface="Microsoft YaHei"/>
                <a:ea typeface="Microsoft YaHei"/>
                <a:cs typeface="Microsoft YaHei"/>
              </a:rPr>
              <a:t>VMA 工程化管理资源背后的内存</a:t>
            </a:r>
          </a:p>
        </p:txBody>
      </p:sp>
    </p:spTree>
    <p:extLst>
      <p:ext uri="{BB962C8B-B14F-4D97-AF65-F5344CB8AC3E}">
        <p14:creationId xmlns:p14="http://schemas.microsoft.com/office/powerpoint/2010/main" val="1613212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2026-09-14T09:49:49.2330000Z</dcterms:created>
  <dcterms:modified xsi:type="dcterms:W3CDTF">2026-09-14T09:49:49.2330000Z</dcterms:modified>
</coreProperties>
</file>